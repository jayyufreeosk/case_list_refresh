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33" r:id="rId1"/>
  </p:sldMasterIdLst>
  <p:notesMasterIdLst>
    <p:notesMasterId r:id="rId3"/>
  </p:notesMasterIdLst>
  <p:handoutMasterIdLst>
    <p:handoutMasterId r:id="rId4"/>
  </p:handoutMasterIdLst>
  <p:sldIdLst>
    <p:sldId id="311" r:id="rId2"/>
  </p:sldIdLst>
  <p:sldSz cx="24387175" cy="13716000"/>
  <p:notesSz cx="6858000" cy="9144000"/>
  <p:defaultTextStyle>
    <a:defPPr>
      <a:defRPr lang="en-US"/>
    </a:defPPr>
    <a:lvl1pPr marL="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1" userDrawn="1">
          <p15:clr>
            <a:srgbClr val="A4A3A4"/>
          </p15:clr>
        </p15:guide>
        <p15:guide id="3" orient="horz" pos="1176" userDrawn="1">
          <p15:clr>
            <a:srgbClr val="A4A3A4"/>
          </p15:clr>
        </p15:guide>
        <p15:guide id="4" orient="horz" pos="153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3666A"/>
    <a:srgbClr val="999899"/>
    <a:srgbClr val="FFFFFF"/>
    <a:srgbClr val="4EC3E0"/>
    <a:srgbClr val="C8C9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12"/>
    <p:restoredTop sz="94650"/>
  </p:normalViewPr>
  <p:slideViewPr>
    <p:cSldViewPr snapToGrid="0" snapToObjects="1">
      <p:cViewPr varScale="1">
        <p:scale>
          <a:sx n="36" d="100"/>
          <a:sy n="36" d="100"/>
        </p:scale>
        <p:origin x="1158" y="96"/>
      </p:cViewPr>
      <p:guideLst>
        <p:guide orient="horz" pos="4320"/>
        <p:guide pos="7681"/>
        <p:guide orient="horz" pos="1176"/>
        <p:guide orient="horz" pos="153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137" d="100"/>
          <a:sy n="137" d="100"/>
        </p:scale>
        <p:origin x="3536" y="2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176420828720369"/>
          <c:y val="0.13760733124857283"/>
          <c:w val="0.79178338327435827"/>
          <c:h val="0.71095230178771562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 Freeosk sales </c:v>
                </c:pt>
              </c:strCache>
            </c:strRef>
          </c:tx>
          <c:spPr>
            <a:ln w="6350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43315</c:v>
                </c:pt>
                <c:pt idx="23">
                  <c:v>43322</c:v>
                </c:pt>
                <c:pt idx="24">
                  <c:v>43329</c:v>
                </c:pt>
                <c:pt idx="25">
                  <c:v>43336</c:v>
                </c:pt>
                <c:pt idx="26">
                  <c:v>43343</c:v>
                </c:pt>
                <c:pt idx="27">
                  <c:v>43350</c:v>
                </c:pt>
                <c:pt idx="28">
                  <c:v>43357</c:v>
                </c:pt>
                <c:pt idx="29">
                  <c:v>43364</c:v>
                </c:pt>
                <c:pt idx="30">
                  <c:v>43371</c:v>
                </c:pt>
                <c:pt idx="31">
                  <c:v>43378</c:v>
                </c:pt>
                <c:pt idx="32">
                  <c:v>43385</c:v>
                </c:pt>
                <c:pt idx="33">
                  <c:v>43392</c:v>
                </c:pt>
                <c:pt idx="34">
                  <c:v>43399</c:v>
                </c:pt>
                <c:pt idx="35">
                  <c:v>43406</c:v>
                </c:pt>
                <c:pt idx="36">
                  <c:v>43413</c:v>
                </c:pt>
                <c:pt idx="37">
                  <c:v>43420</c:v>
                </c:pt>
                <c:pt idx="38">
                  <c:v>43427</c:v>
                </c:pt>
                <c:pt idx="39">
                  <c:v>43434</c:v>
                </c:pt>
                <c:pt idx="40">
                  <c:v>43441</c:v>
                </c:pt>
                <c:pt idx="41">
                  <c:v>43448</c:v>
                </c:pt>
                <c:pt idx="42">
                  <c:v>43455</c:v>
                </c:pt>
                <c:pt idx="43">
                  <c:v>43462</c:v>
                </c:pt>
                <c:pt idx="44">
                  <c:v>43469</c:v>
                </c:pt>
                <c:pt idx="45">
                  <c:v>43476</c:v>
                </c:pt>
                <c:pt idx="46">
                  <c:v>43483</c:v>
                </c:pt>
                <c:pt idx="47">
                  <c:v>43490</c:v>
                </c:pt>
                <c:pt idx="48">
                  <c:v>43497</c:v>
                </c:pt>
                <c:pt idx="49">
                  <c:v>43504</c:v>
                </c:pt>
                <c:pt idx="50">
                  <c:v>43511</c:v>
                </c:pt>
                <c:pt idx="51">
                  <c:v>43518</c:v>
                </c:pt>
                <c:pt idx="52">
                  <c:v>43525</c:v>
                </c:pt>
                <c:pt idx="53">
                  <c:v>43532</c:v>
                </c:pt>
                <c:pt idx="54">
                  <c:v>43539</c:v>
                </c:pt>
                <c:pt idx="55">
                  <c:v>43546</c:v>
                </c:pt>
                <c:pt idx="56">
                  <c:v>43553</c:v>
                </c:pt>
                <c:pt idx="57">
                  <c:v>43560</c:v>
                </c:pt>
                <c:pt idx="58">
                  <c:v>43567</c:v>
                </c:pt>
                <c:pt idx="59">
                  <c:v>43574</c:v>
                </c:pt>
                <c:pt idx="60">
                  <c:v>43581</c:v>
                </c:pt>
                <c:pt idx="61">
                  <c:v>43588</c:v>
                </c:pt>
                <c:pt idx="62">
                  <c:v>43595</c:v>
                </c:pt>
                <c:pt idx="63">
                  <c:v>43602</c:v>
                </c:pt>
                <c:pt idx="64">
                  <c:v>43609</c:v>
                </c:pt>
              </c:numCache>
            </c:numRef>
          </c:cat>
          <c:val>
            <c:numRef>
              <c:f>Sheet1!$B$2:$B$66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0</c:v>
                </c:pt>
                <c:pt idx="23">
                  <c:v>10</c:v>
                </c:pt>
                <c:pt idx="24">
                  <c:v>10</c:v>
                </c:pt>
                <c:pt idx="25">
                  <c:v>10</c:v>
                </c:pt>
                <c:pt idx="26">
                  <c:v>10</c:v>
                </c:pt>
                <c:pt idx="27">
                  <c:v>10</c:v>
                </c:pt>
                <c:pt idx="28">
                  <c:v>10</c:v>
                </c:pt>
                <c:pt idx="29">
                  <c:v>10</c:v>
                </c:pt>
                <c:pt idx="30">
                  <c:v>50</c:v>
                </c:pt>
                <c:pt idx="31">
                  <c:v>20</c:v>
                </c:pt>
                <c:pt idx="32">
                  <c:v>20</c:v>
                </c:pt>
                <c:pt idx="33">
                  <c:v>20</c:v>
                </c:pt>
                <c:pt idx="34">
                  <c:v>20</c:v>
                </c:pt>
                <c:pt idx="35">
                  <c:v>10</c:v>
                </c:pt>
                <c:pt idx="36">
                  <c:v>20</c:v>
                </c:pt>
                <c:pt idx="37">
                  <c:v>20</c:v>
                </c:pt>
                <c:pt idx="38">
                  <c:v>20</c:v>
                </c:pt>
                <c:pt idx="39">
                  <c:v>20</c:v>
                </c:pt>
                <c:pt idx="40">
                  <c:v>50</c:v>
                </c:pt>
                <c:pt idx="41">
                  <c:v>50</c:v>
                </c:pt>
                <c:pt idx="42">
                  <c:v>60</c:v>
                </c:pt>
                <c:pt idx="43">
                  <c:v>60</c:v>
                </c:pt>
                <c:pt idx="44">
                  <c:v>50</c:v>
                </c:pt>
                <c:pt idx="45">
                  <c:v>190</c:v>
                </c:pt>
                <c:pt idx="46">
                  <c:v>220</c:v>
                </c:pt>
                <c:pt idx="47">
                  <c:v>510</c:v>
                </c:pt>
                <c:pt idx="48">
                  <c:v>210</c:v>
                </c:pt>
                <c:pt idx="49">
                  <c:v>150</c:v>
                </c:pt>
                <c:pt idx="50">
                  <c:v>130</c:v>
                </c:pt>
                <c:pt idx="51">
                  <c:v>160</c:v>
                </c:pt>
                <c:pt idx="52">
                  <c:v>490</c:v>
                </c:pt>
                <c:pt idx="53">
                  <c:v>180</c:v>
                </c:pt>
                <c:pt idx="54">
                  <c:v>170</c:v>
                </c:pt>
                <c:pt idx="55">
                  <c:v>160</c:v>
                </c:pt>
                <c:pt idx="56">
                  <c:v>140</c:v>
                </c:pt>
                <c:pt idx="57">
                  <c:v>130</c:v>
                </c:pt>
                <c:pt idx="58">
                  <c:v>30</c:v>
                </c:pt>
                <c:pt idx="59">
                  <c:v>30</c:v>
                </c:pt>
                <c:pt idx="60">
                  <c:v>80</c:v>
                </c:pt>
                <c:pt idx="61">
                  <c:v>40</c:v>
                </c:pt>
                <c:pt idx="62">
                  <c:v>40</c:v>
                </c:pt>
                <c:pt idx="63">
                  <c:v>40</c:v>
                </c:pt>
                <c:pt idx="64">
                  <c:v>40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81D-4639-88D6-2C82394D4EF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 Control sales </c:v>
                </c:pt>
              </c:strCache>
            </c:strRef>
          </c:tx>
          <c:spPr>
            <a:ln w="12700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43315</c:v>
                </c:pt>
                <c:pt idx="23">
                  <c:v>43322</c:v>
                </c:pt>
                <c:pt idx="24">
                  <c:v>43329</c:v>
                </c:pt>
                <c:pt idx="25">
                  <c:v>43336</c:v>
                </c:pt>
                <c:pt idx="26">
                  <c:v>43343</c:v>
                </c:pt>
                <c:pt idx="27">
                  <c:v>43350</c:v>
                </c:pt>
                <c:pt idx="28">
                  <c:v>43357</c:v>
                </c:pt>
                <c:pt idx="29">
                  <c:v>43364</c:v>
                </c:pt>
                <c:pt idx="30">
                  <c:v>43371</c:v>
                </c:pt>
                <c:pt idx="31">
                  <c:v>43378</c:v>
                </c:pt>
                <c:pt idx="32">
                  <c:v>43385</c:v>
                </c:pt>
                <c:pt idx="33">
                  <c:v>43392</c:v>
                </c:pt>
                <c:pt idx="34">
                  <c:v>43399</c:v>
                </c:pt>
                <c:pt idx="35">
                  <c:v>43406</c:v>
                </c:pt>
                <c:pt idx="36">
                  <c:v>43413</c:v>
                </c:pt>
                <c:pt idx="37">
                  <c:v>43420</c:v>
                </c:pt>
                <c:pt idx="38">
                  <c:v>43427</c:v>
                </c:pt>
                <c:pt idx="39">
                  <c:v>43434</c:v>
                </c:pt>
                <c:pt idx="40">
                  <c:v>43441</c:v>
                </c:pt>
                <c:pt idx="41">
                  <c:v>43448</c:v>
                </c:pt>
                <c:pt idx="42">
                  <c:v>43455</c:v>
                </c:pt>
                <c:pt idx="43">
                  <c:v>43462</c:v>
                </c:pt>
                <c:pt idx="44">
                  <c:v>43469</c:v>
                </c:pt>
                <c:pt idx="45">
                  <c:v>43476</c:v>
                </c:pt>
                <c:pt idx="46">
                  <c:v>43483</c:v>
                </c:pt>
                <c:pt idx="47">
                  <c:v>43490</c:v>
                </c:pt>
                <c:pt idx="48">
                  <c:v>43497</c:v>
                </c:pt>
                <c:pt idx="49">
                  <c:v>43504</c:v>
                </c:pt>
                <c:pt idx="50">
                  <c:v>43511</c:v>
                </c:pt>
                <c:pt idx="51">
                  <c:v>43518</c:v>
                </c:pt>
                <c:pt idx="52">
                  <c:v>43525</c:v>
                </c:pt>
                <c:pt idx="53">
                  <c:v>43532</c:v>
                </c:pt>
                <c:pt idx="54">
                  <c:v>43539</c:v>
                </c:pt>
                <c:pt idx="55">
                  <c:v>43546</c:v>
                </c:pt>
                <c:pt idx="56">
                  <c:v>43553</c:v>
                </c:pt>
                <c:pt idx="57">
                  <c:v>43560</c:v>
                </c:pt>
                <c:pt idx="58">
                  <c:v>43567</c:v>
                </c:pt>
                <c:pt idx="59">
                  <c:v>43574</c:v>
                </c:pt>
                <c:pt idx="60">
                  <c:v>43581</c:v>
                </c:pt>
                <c:pt idx="61">
                  <c:v>43588</c:v>
                </c:pt>
                <c:pt idx="62">
                  <c:v>43595</c:v>
                </c:pt>
                <c:pt idx="63">
                  <c:v>43602</c:v>
                </c:pt>
                <c:pt idx="64">
                  <c:v>43609</c:v>
                </c:pt>
              </c:numCache>
            </c:numRef>
          </c:cat>
          <c:val>
            <c:numRef>
              <c:f>Sheet1!$C$2:$C$66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0</c:v>
                </c:pt>
                <c:pt idx="23">
                  <c:v>10</c:v>
                </c:pt>
                <c:pt idx="24">
                  <c:v>10</c:v>
                </c:pt>
                <c:pt idx="25">
                  <c:v>10</c:v>
                </c:pt>
                <c:pt idx="26">
                  <c:v>10</c:v>
                </c:pt>
                <c:pt idx="27">
                  <c:v>10</c:v>
                </c:pt>
                <c:pt idx="28">
                  <c:v>10</c:v>
                </c:pt>
                <c:pt idx="29">
                  <c:v>10</c:v>
                </c:pt>
                <c:pt idx="30">
                  <c:v>50</c:v>
                </c:pt>
                <c:pt idx="31">
                  <c:v>20</c:v>
                </c:pt>
                <c:pt idx="32">
                  <c:v>20</c:v>
                </c:pt>
                <c:pt idx="33">
                  <c:v>20</c:v>
                </c:pt>
                <c:pt idx="34">
                  <c:v>20</c:v>
                </c:pt>
                <c:pt idx="35">
                  <c:v>10</c:v>
                </c:pt>
                <c:pt idx="36">
                  <c:v>20</c:v>
                </c:pt>
                <c:pt idx="37">
                  <c:v>20</c:v>
                </c:pt>
                <c:pt idx="38">
                  <c:v>20</c:v>
                </c:pt>
                <c:pt idx="39">
                  <c:v>30</c:v>
                </c:pt>
                <c:pt idx="40">
                  <c:v>50</c:v>
                </c:pt>
                <c:pt idx="41">
                  <c:v>50</c:v>
                </c:pt>
                <c:pt idx="42">
                  <c:v>50</c:v>
                </c:pt>
                <c:pt idx="43">
                  <c:v>50</c:v>
                </c:pt>
                <c:pt idx="44">
                  <c:v>50</c:v>
                </c:pt>
                <c:pt idx="45">
                  <c:v>200</c:v>
                </c:pt>
                <c:pt idx="46">
                  <c:v>240</c:v>
                </c:pt>
                <c:pt idx="47">
                  <c:v>480</c:v>
                </c:pt>
                <c:pt idx="48">
                  <c:v>190</c:v>
                </c:pt>
                <c:pt idx="49">
                  <c:v>150</c:v>
                </c:pt>
                <c:pt idx="50">
                  <c:v>140</c:v>
                </c:pt>
                <c:pt idx="51">
                  <c:v>160</c:v>
                </c:pt>
                <c:pt idx="52">
                  <c:v>130</c:v>
                </c:pt>
                <c:pt idx="53">
                  <c:v>140</c:v>
                </c:pt>
                <c:pt idx="54">
                  <c:v>160</c:v>
                </c:pt>
                <c:pt idx="55">
                  <c:v>140</c:v>
                </c:pt>
                <c:pt idx="56">
                  <c:v>140</c:v>
                </c:pt>
                <c:pt idx="57">
                  <c:v>120</c:v>
                </c:pt>
                <c:pt idx="58">
                  <c:v>30</c:v>
                </c:pt>
                <c:pt idx="59">
                  <c:v>30</c:v>
                </c:pt>
                <c:pt idx="60">
                  <c:v>90</c:v>
                </c:pt>
                <c:pt idx="61">
                  <c:v>40</c:v>
                </c:pt>
                <c:pt idx="62">
                  <c:v>30</c:v>
                </c:pt>
                <c:pt idx="63">
                  <c:v>40</c:v>
                </c:pt>
                <c:pt idx="64">
                  <c:v>30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81D-4639-88D6-2C82394D4EF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 Freeosk week 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circle"/>
            <c:size val="1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Pt>
            <c:idx val="37"/>
            <c:marker>
              <c:symbol val="none"/>
            </c:marker>
            <c:bubble3D val="0"/>
          </c:dPt>
          <c:cat>
            <c:numRef>
              <c:f>Sheet1!$A$2:$A$66</c:f>
              <c:numCache>
                <c:formatCode>m/d/yyyy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43315</c:v>
                </c:pt>
                <c:pt idx="23">
                  <c:v>43322</c:v>
                </c:pt>
                <c:pt idx="24">
                  <c:v>43329</c:v>
                </c:pt>
                <c:pt idx="25">
                  <c:v>43336</c:v>
                </c:pt>
                <c:pt idx="26">
                  <c:v>43343</c:v>
                </c:pt>
                <c:pt idx="27">
                  <c:v>43350</c:v>
                </c:pt>
                <c:pt idx="28">
                  <c:v>43357</c:v>
                </c:pt>
                <c:pt idx="29">
                  <c:v>43364</c:v>
                </c:pt>
                <c:pt idx="30">
                  <c:v>43371</c:v>
                </c:pt>
                <c:pt idx="31">
                  <c:v>43378</c:v>
                </c:pt>
                <c:pt idx="32">
                  <c:v>43385</c:v>
                </c:pt>
                <c:pt idx="33">
                  <c:v>43392</c:v>
                </c:pt>
                <c:pt idx="34">
                  <c:v>43399</c:v>
                </c:pt>
                <c:pt idx="35">
                  <c:v>43406</c:v>
                </c:pt>
                <c:pt idx="36">
                  <c:v>43413</c:v>
                </c:pt>
                <c:pt idx="37">
                  <c:v>43420</c:v>
                </c:pt>
                <c:pt idx="38">
                  <c:v>43427</c:v>
                </c:pt>
                <c:pt idx="39">
                  <c:v>43434</c:v>
                </c:pt>
                <c:pt idx="40">
                  <c:v>43441</c:v>
                </c:pt>
                <c:pt idx="41">
                  <c:v>43448</c:v>
                </c:pt>
                <c:pt idx="42">
                  <c:v>43455</c:v>
                </c:pt>
                <c:pt idx="43">
                  <c:v>43462</c:v>
                </c:pt>
                <c:pt idx="44">
                  <c:v>43469</c:v>
                </c:pt>
                <c:pt idx="45">
                  <c:v>43476</c:v>
                </c:pt>
                <c:pt idx="46">
                  <c:v>43483</c:v>
                </c:pt>
                <c:pt idx="47">
                  <c:v>43490</c:v>
                </c:pt>
                <c:pt idx="48">
                  <c:v>43497</c:v>
                </c:pt>
                <c:pt idx="49">
                  <c:v>43504</c:v>
                </c:pt>
                <c:pt idx="50">
                  <c:v>43511</c:v>
                </c:pt>
                <c:pt idx="51">
                  <c:v>43518</c:v>
                </c:pt>
                <c:pt idx="52">
                  <c:v>43525</c:v>
                </c:pt>
                <c:pt idx="53">
                  <c:v>43532</c:v>
                </c:pt>
                <c:pt idx="54">
                  <c:v>43539</c:v>
                </c:pt>
                <c:pt idx="55">
                  <c:v>43546</c:v>
                </c:pt>
                <c:pt idx="56">
                  <c:v>43553</c:v>
                </c:pt>
                <c:pt idx="57">
                  <c:v>43560</c:v>
                </c:pt>
                <c:pt idx="58">
                  <c:v>43567</c:v>
                </c:pt>
                <c:pt idx="59">
                  <c:v>43574</c:v>
                </c:pt>
                <c:pt idx="60">
                  <c:v>43581</c:v>
                </c:pt>
                <c:pt idx="61">
                  <c:v>43588</c:v>
                </c:pt>
                <c:pt idx="62">
                  <c:v>43595</c:v>
                </c:pt>
                <c:pt idx="63">
                  <c:v>43602</c:v>
                </c:pt>
                <c:pt idx="64">
                  <c:v>43609</c:v>
                </c:pt>
              </c:numCache>
            </c:numRef>
          </c:cat>
          <c:val>
            <c:numRef>
              <c:f>Sheet1!$D$2:$D$66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#N/A</c:v>
                </c:pt>
                <c:pt idx="42">
                  <c:v>#N/A</c:v>
                </c:pt>
                <c:pt idx="43">
                  <c:v>#N/A</c:v>
                </c:pt>
                <c:pt idx="44">
                  <c:v>#N/A</c:v>
                </c:pt>
                <c:pt idx="45">
                  <c:v>#N/A</c:v>
                </c:pt>
                <c:pt idx="46">
                  <c:v>#N/A</c:v>
                </c:pt>
                <c:pt idx="47">
                  <c:v>#N/A</c:v>
                </c:pt>
                <c:pt idx="48">
                  <c:v>#N/A</c:v>
                </c:pt>
                <c:pt idx="49">
                  <c:v>#N/A</c:v>
                </c:pt>
                <c:pt idx="50">
                  <c:v>#N/A</c:v>
                </c:pt>
                <c:pt idx="51">
                  <c:v>#N/A</c:v>
                </c:pt>
                <c:pt idx="52">
                  <c:v>490</c:v>
                </c:pt>
                <c:pt idx="53">
                  <c:v>#N/A</c:v>
                </c:pt>
                <c:pt idx="54">
                  <c:v>#N/A</c:v>
                </c:pt>
                <c:pt idx="55">
                  <c:v>#N/A</c:v>
                </c:pt>
                <c:pt idx="56">
                  <c:v>#N/A</c:v>
                </c:pt>
                <c:pt idx="57">
                  <c:v>#N/A</c:v>
                </c:pt>
                <c:pt idx="58">
                  <c:v>#N/A</c:v>
                </c:pt>
                <c:pt idx="59">
                  <c:v>#N/A</c:v>
                </c:pt>
                <c:pt idx="60">
                  <c:v>#N/A</c:v>
                </c:pt>
                <c:pt idx="61">
                  <c:v>#N/A</c:v>
                </c:pt>
                <c:pt idx="62">
                  <c:v>#N/A</c:v>
                </c:pt>
                <c:pt idx="63">
                  <c:v>#N/A</c:v>
                </c:pt>
                <c:pt idx="64">
                  <c:v>#N/A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B81D-4639-88D6-2C82394D4EF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07936736"/>
        <c:axId val="407940672"/>
      </c:lineChart>
      <c:dateAx>
        <c:axId val="407936736"/>
        <c:scaling>
          <c:orientation val="minMax"/>
        </c:scaling>
        <c:delete val="0"/>
        <c:axPos val="b"/>
        <c:numFmt formatCode="[$-409]mmm\ yy;@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40672"/>
        <c:crosses val="autoZero"/>
        <c:auto val="1"/>
        <c:lblOffset val="100"/>
        <c:baseTimeUnit val="days"/>
        <c:majorUnit val="3"/>
        <c:majorTimeUnit val="months"/>
      </c:dateAx>
      <c:valAx>
        <c:axId val="4079406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&quot;$&quot;* #,##0_);_(&quot;$&quot;* \(#,##0\);_(@_)" sourceLinked="0"/>
        <c:majorTickMark val="out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367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4429210485914074"/>
          <c:y val="2.8421104426246579E-2"/>
          <c:w val="0.81410891007627251"/>
          <c:h val="7.244059284374175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0" i="0" u="none" strike="noStrike" kern="1200" baseline="0">
              <a:solidFill>
                <a:schemeClr val="tx1"/>
              </a:solidFill>
              <a:latin typeface="Pluto Sans Regular" panose="02000000000000000000" pitchFamily="50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2200">
          <a:solidFill>
            <a:schemeClr val="tx1"/>
          </a:solidFill>
          <a:latin typeface="Pluto Sans Regular" panose="02000000000000000000" pitchFamily="50" charset="0"/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96173B3-CFD1-DF4E-842C-14A53BC7FE1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63C9EA-5BAC-D24F-874C-7E4E47F3881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17E541-75E2-9A4E-9E30-94EAB07A806A}" type="datetimeFigureOut">
              <a:rPr lang="en-US" smtClean="0"/>
              <a:t>6/24/2019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224F5F-043C-9D48-AE9A-285399219C9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65C45D-666F-9D48-9486-263875FA293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11E95D-8F0D-184E-AB4D-3710127916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6529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FC0FD4-3F68-9E4B-8664-1448B6B15210}" type="datetimeFigureOut">
              <a:rPr lang="en-US" smtClean="0"/>
              <a:t>6/24/2019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0B9739-8626-104E-943C-004BF05AE3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910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143000" algn="dec"/>
              </a:tabLst>
              <a:defRPr/>
            </a:pPr>
            <a:r>
              <a:rPr lang="en-US" dirty="0"/>
              <a:t>&lt;=case=&gt;</a:t>
            </a: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  <a:p>
            <a:pPr>
              <a:tabLst>
                <a:tab pos="1143000" algn="dec"/>
              </a:tabLst>
            </a:pP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BED87B-2946-AA4C-AB39-D093E9107C3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971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F90B7557-0C6F-674D-9C70-A5A677EA9C8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8" name="Title 20">
            <a:extLst>
              <a:ext uri="{FF2B5EF4-FFF2-40B4-BE49-F238E27FC236}">
                <a16:creationId xmlns:a16="http://schemas.microsoft.com/office/drawing/2014/main" id="{283B5CD6-E3C7-B444-B524-0A7F15826A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9C319F0-2974-614E-82AA-01867F450F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914400" indent="0">
              <a:buNone/>
              <a:defRPr>
                <a:solidFill>
                  <a:schemeClr val="tx1"/>
                </a:solidFill>
              </a:defRPr>
            </a:lvl2pPr>
            <a:lvl3pPr marL="1828800" indent="0">
              <a:buNone/>
              <a:defRPr>
                <a:solidFill>
                  <a:srgbClr val="63666A"/>
                </a:solidFill>
              </a:defRPr>
            </a:lvl3pPr>
            <a:lvl4pPr marL="2743200" indent="0">
              <a:buNone/>
              <a:defRPr>
                <a:solidFill>
                  <a:srgbClr val="63666A"/>
                </a:solidFill>
              </a:defRPr>
            </a:lvl4pPr>
            <a:lvl5pPr marL="3657600" indent="0">
              <a:buNone/>
              <a:defRPr>
                <a:solidFill>
                  <a:srgbClr val="63666A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7355F4A8-9D9B-0E41-8A7D-7DF04366311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8856" y="12209929"/>
            <a:ext cx="20443602" cy="753596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 marL="0" indent="0">
              <a:buNone/>
              <a:defRPr sz="140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Notes:</a:t>
            </a:r>
          </a:p>
        </p:txBody>
      </p:sp>
      <p:sp>
        <p:nvSpPr>
          <p:cNvPr id="14" name="Slide Number Placeholder 2">
            <a:extLst>
              <a:ext uri="{FF2B5EF4-FFF2-40B4-BE49-F238E27FC236}">
                <a16:creationId xmlns:a16="http://schemas.microsoft.com/office/drawing/2014/main" id="{BF69ADE3-DC25-2E40-8AB6-F0DCEB5A2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8B5596A2-533B-3B47-973E-58F9DFFFFB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697757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5AB8C0-75D1-CD4B-A8CE-32A7A2EC43E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87" y="0"/>
            <a:ext cx="24384000" cy="13716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7C7CC07A-A5AD-A148-9279-66E557B41E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6619" y="6097873"/>
            <a:ext cx="21033938" cy="1018230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THANKS!</a:t>
            </a:r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18FFCE0E-06A4-3344-B586-D361FD6CA7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C8DCD125-462E-6243-91B8-10414264B6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1066862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2">
            <a:extLst>
              <a:ext uri="{FF2B5EF4-FFF2-40B4-BE49-F238E27FC236}">
                <a16:creationId xmlns:a16="http://schemas.microsoft.com/office/drawing/2014/main" id="{7425CF09-4AF4-0748-8267-DEA396B2F7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3232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9FE8E80-EA62-E740-8D40-6D17E5B795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/>
              <a:t>© Freeosk, Inc. Confidential and proprietary. v1.0</a:t>
            </a:r>
            <a:endParaRPr lang="en-US" dirty="0"/>
          </a:p>
        </p:txBody>
      </p:sp>
      <p:sp>
        <p:nvSpPr>
          <p:cNvPr id="13" name="Title 20">
            <a:extLst>
              <a:ext uri="{FF2B5EF4-FFF2-40B4-BE49-F238E27FC236}">
                <a16:creationId xmlns:a16="http://schemas.microsoft.com/office/drawing/2014/main" id="{88408E13-7B6A-EA4F-82D7-DDB2B0B2D8FB}"/>
              </a:ext>
            </a:extLst>
          </p:cNvPr>
          <p:cNvSpPr txBox="1">
            <a:spLocks/>
          </p:cNvSpPr>
          <p:nvPr userDrawn="1"/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i="1" kern="1200">
                <a:solidFill>
                  <a:schemeClr val="accent1"/>
                </a:solidFill>
                <a:latin typeface="Pluto Sans" panose="02000000000000000000" pitchFamily="2" charset="77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tx1"/>
                </a:solidFill>
              </a:rPr>
              <a:t>CLICK TO EDIT MASTER TITLE STYLE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BC96645-81EB-3041-B9D3-F3DAE1928AD0}"/>
              </a:ext>
            </a:extLst>
          </p:cNvPr>
          <p:cNvSpPr txBox="1">
            <a:spLocks/>
          </p:cNvSpPr>
          <p:nvPr userDrawn="1"/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1pPr>
            <a:lvl2pPr marL="9144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8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2pPr>
            <a:lvl3pPr marL="18288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3pPr>
            <a:lvl4pPr marL="27432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4pPr>
            <a:lvl5pPr marL="36576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0131012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</p:sldLayoutIdLst>
  <p:hf hdr="0" dt="0"/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7200" b="1" i="1" kern="1200">
          <a:solidFill>
            <a:schemeClr val="accent1"/>
          </a:solidFill>
          <a:latin typeface="Pluto Sans" panose="02000000000000000000" pitchFamily="2" charset="77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" name="Chart 11">
            <a:extLst>
              <a:ext uri="{FF2B5EF4-FFF2-40B4-BE49-F238E27FC236}">
                <a16:creationId xmlns:a16="http://schemas.microsoft.com/office/drawing/2014/main" id="{6954BA39-DED7-4633-88C0-C82CB92D902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56000041"/>
              </p:ext>
            </p:extLst>
          </p:nvPr>
        </p:nvGraphicFramePr>
        <p:xfrm>
          <a:off x="8967967" y="3473100"/>
          <a:ext cx="9464163" cy="41865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18" name="case study rende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5040" y="4094179"/>
            <a:ext cx="2725420" cy="363389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1390" y="710372"/>
            <a:ext cx="18253085" cy="1456359"/>
          </a:xfrm>
        </p:spPr>
        <p:txBody>
          <a:bodyPr anchor="t">
            <a:noAutofit/>
          </a:bodyPr>
          <a:lstStyle/>
          <a:p>
            <a:r>
              <a:rPr lang="en-US" sz="5600" b="0">
                <a:latin typeface="Pluto Sans Bold" panose="02000000000000000000" pitchFamily="50" charset="0"/>
              </a:rPr>
              <a:t>Omega Oils case study</a:t>
            </a:r>
            <a:endParaRPr lang="en-US" sz="5600" b="0" dirty="0">
              <a:latin typeface="Pluto Sans Bold" panose="02000000000000000000" pitchFamily="50" charset="0"/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CA9DF5E-3D1E-46AA-A8A8-7D5C81A7A2D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07190" y="12209929"/>
            <a:ext cx="20443602" cy="753596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tx1"/>
                </a:solidFill>
              </a:rPr>
              <a:t>Conversion calculated using card methodology; see card calculation presentation for further details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©2018 </a:t>
            </a:r>
            <a:r>
              <a:rPr lang="en-US" dirty="0" err="1"/>
              <a:t>Freeosk</a:t>
            </a:r>
            <a:r>
              <a:rPr lang="en-US" dirty="0"/>
              <a:t>, Inc. For internal use only. Confidential and proprietary.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29497" y="3879240"/>
            <a:ext cx="35044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>
                <a:solidFill>
                  <a:schemeClr val="accent1"/>
                </a:solidFill>
                <a:latin typeface="Pluto Sans Regular" panose="02000000000000000000" pitchFamily="50" charset="0"/>
              </a:rPr>
              <a:t>#2 sales week</a:t>
            </a:r>
            <a:endParaRPr lang="en-US" sz="2800" dirty="0">
              <a:solidFill>
                <a:schemeClr val="accent1"/>
              </a:solidFill>
              <a:latin typeface="Pluto Sans Regular" panose="02000000000000000000" pitchFamily="50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845176" y="2954027"/>
            <a:ext cx="85425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Pluto Sans Regular" panose="02000000000000000000" pitchFamily="50" charset="0"/>
              </a:rPr>
              <a:t>Sales ($) per club at </a:t>
            </a:r>
            <a:r>
              <a:rPr lang="en-US" sz="2800" dirty="0" err="1">
                <a:latin typeface="Pluto Sans Regular" panose="02000000000000000000" pitchFamily="50" charset="0"/>
              </a:rPr>
              <a:t>Freeosk</a:t>
            </a:r>
            <a:r>
              <a:rPr lang="en-US" sz="2800" dirty="0">
                <a:latin typeface="Pluto Sans Regular" panose="02000000000000000000" pitchFamily="50" charset="0"/>
              </a:rPr>
              <a:t> program clubs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45175" y="2350075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Weekly sales trend and sales lift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45175" y="7963271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Purchaser segmentation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1010543"/>
              </p:ext>
            </p:extLst>
          </p:nvPr>
        </p:nvGraphicFramePr>
        <p:xfrm>
          <a:off x="9064902" y="8553966"/>
          <a:ext cx="13295376" cy="27713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5096">
                  <a:extLst>
                    <a:ext uri="{9D8B030D-6E8A-4147-A177-3AD203B41FA5}">
                      <a16:colId xmlns:a16="http://schemas.microsoft.com/office/drawing/2014/main" val="821594761"/>
                    </a:ext>
                  </a:extLst>
                </a:gridCol>
                <a:gridCol w="3362592">
                  <a:extLst>
                    <a:ext uri="{9D8B030D-6E8A-4147-A177-3AD203B41FA5}">
                      <a16:colId xmlns:a16="http://schemas.microsoft.com/office/drawing/2014/main" val="558351193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032550879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777557803"/>
                    </a:ext>
                  </a:extLst>
                </a:gridCol>
              </a:tblGrid>
              <a:tr h="1084008">
                <a:tc>
                  <a:txBody>
                    <a:bodyPr/>
                    <a:lstStyle/>
                    <a:p>
                      <a:pPr algn="ctr"/>
                      <a:r>
                        <a:rPr lang="en-US" sz="40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7,878</a:t>
                      </a:r>
                      <a:endParaRPr lang="en-US" sz="40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77%</a:t>
                      </a:r>
                      <a:endParaRPr lang="en-US" sz="40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12%</a:t>
                      </a:r>
                      <a:endParaRPr lang="en-US" sz="4000" dirty="0">
                        <a:solidFill>
                          <a:schemeClr val="accent4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 b="1" kern="120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12%</a:t>
                      </a:r>
                      <a:endParaRPr lang="en-US" sz="4000" b="1" kern="1200" dirty="0">
                        <a:solidFill>
                          <a:schemeClr val="accent2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2575697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Total Freeosk Purchasers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A. New to Item</a:t>
                      </a:r>
                      <a:r>
                        <a:rPr lang="en-US" sz="2000" baseline="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 and </a:t>
                      </a: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Sub-Cat</a:t>
                      </a:r>
                    </a:p>
                  </a:txBody>
                  <a:tcPr marL="182880" marR="182880" marT="0" marB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B. New to Item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C. Current User</a:t>
                      </a:r>
                    </a:p>
                  </a:txBody>
                  <a:tcPr marL="182880" marR="182880" marT="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9772759"/>
                  </a:ext>
                </a:extLst>
              </a:tr>
              <a:tr h="864354"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(A + B): 88%</a:t>
                      </a:r>
                      <a:endParaRPr lang="en-US" sz="32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182880" marB="914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>
                        <a:solidFill>
                          <a:schemeClr val="accent4"/>
                        </a:solidFill>
                        <a:latin typeface="Pluto Sans Cond Regular" panose="02000000000000000000" pitchFamily="50" charset="0"/>
                        <a:cs typeface="PT Sans Caption"/>
                      </a:endParaRPr>
                    </a:p>
                  </a:txBody>
                  <a:tcPr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1046985"/>
                  </a:ext>
                </a:extLst>
              </a:tr>
            </a:tbl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4AE94808-44B2-4848-935F-F6BF0BF87243}"/>
              </a:ext>
            </a:extLst>
          </p:cNvPr>
          <p:cNvSpPr txBox="1"/>
          <p:nvPr/>
        </p:nvSpPr>
        <p:spPr>
          <a:xfrm>
            <a:off x="1290569" y="3776526"/>
            <a:ext cx="431682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Regular" panose="02000000000000000000" pitchFamily="50" charset="0"/>
              </a:rPr>
              <a:t>394 clubs</a:t>
            </a:r>
          </a:p>
          <a:p>
            <a:r>
              <a:rPr lang="en-US" sz="2800">
                <a:latin typeface="Pluto Sans Regular" panose="02000000000000000000" pitchFamily="50" charset="0"/>
              </a:rPr>
              <a:t>Primary Item (Sample)</a:t>
            </a:r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04B0E4E-1D8C-4162-B106-3EF4D69F1072}"/>
              </a:ext>
            </a:extLst>
          </p:cNvPr>
          <p:cNvSpPr txBox="1"/>
          <p:nvPr/>
        </p:nvSpPr>
        <p:spPr>
          <a:xfrm>
            <a:off x="861390" y="2324377"/>
            <a:ext cx="5841664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Category: OTC </a:t>
            </a:r>
          </a:p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Sub-Category: Omega Oils</a:t>
            </a:r>
            <a:endParaRPr lang="en-US" sz="3200" dirty="0">
              <a:solidFill>
                <a:schemeClr val="tx2"/>
              </a:solidFill>
              <a:latin typeface="Pluto Sans Regular" panose="02000000000000000000" pitchFamily="50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B750DFB-BC1D-476A-8FCE-FCD307A1C144}"/>
              </a:ext>
            </a:extLst>
          </p:cNvPr>
          <p:cNvCxnSpPr>
            <a:cxnSpLocks/>
          </p:cNvCxnSpPr>
          <p:nvPr/>
        </p:nvCxnSpPr>
        <p:spPr>
          <a:xfrm>
            <a:off x="1290569" y="7793022"/>
            <a:ext cx="22008343" cy="81468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5AB58E9-68E5-4C84-B8F3-0C9400227D07}"/>
              </a:ext>
            </a:extLst>
          </p:cNvPr>
          <p:cNvCxnSpPr>
            <a:cxnSpLocks/>
          </p:cNvCxnSpPr>
          <p:nvPr/>
        </p:nvCxnSpPr>
        <p:spPr>
          <a:xfrm>
            <a:off x="8762953" y="3027182"/>
            <a:ext cx="0" cy="8595360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1EEA17DC-63A2-46F2-BA67-E4B252A0A3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255714"/>
              </p:ext>
            </p:extLst>
          </p:nvPr>
        </p:nvGraphicFramePr>
        <p:xfrm>
          <a:off x="1290570" y="7874489"/>
          <a:ext cx="7410978" cy="3237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965">
                  <a:extLst>
                    <a:ext uri="{9D8B030D-6E8A-4147-A177-3AD203B41FA5}">
                      <a16:colId xmlns:a16="http://schemas.microsoft.com/office/drawing/2014/main" val="2552176294"/>
                    </a:ext>
                  </a:extLst>
                </a:gridCol>
                <a:gridCol w="1592826">
                  <a:extLst>
                    <a:ext uri="{9D8B030D-6E8A-4147-A177-3AD203B41FA5}">
                      <a16:colId xmlns:a16="http://schemas.microsoft.com/office/drawing/2014/main" val="843218093"/>
                    </a:ext>
                  </a:extLst>
                </a:gridCol>
                <a:gridCol w="1061884">
                  <a:extLst>
                    <a:ext uri="{9D8B030D-6E8A-4147-A177-3AD203B41FA5}">
                      <a16:colId xmlns:a16="http://schemas.microsoft.com/office/drawing/2014/main" val="1772864116"/>
                    </a:ext>
                  </a:extLst>
                </a:gridCol>
                <a:gridCol w="1799303">
                  <a:extLst>
                    <a:ext uri="{9D8B030D-6E8A-4147-A177-3AD203B41FA5}">
                      <a16:colId xmlns:a16="http://schemas.microsoft.com/office/drawing/2014/main" val="1894900302"/>
                    </a:ext>
                  </a:extLst>
                </a:gridCol>
              </a:tblGrid>
              <a:tr h="0">
                <a:tc gridSpan="4">
                  <a:txBody>
                    <a:bodyPr/>
                    <a:lstStyle/>
                    <a:p>
                      <a:r>
                        <a:rPr lang="en-US" sz="3200" b="1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Engagement and conversion</a:t>
                      </a:r>
                    </a:p>
                  </a:txBody>
                  <a:tcPr marL="182880" marR="182880" marT="91440" marB="9144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95517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Awareness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4.5M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Members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5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9621504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Engagement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280K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Scans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6.2%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1638741"/>
                  </a:ext>
                </a:extLst>
              </a:tr>
              <a:tr h="138022">
                <a:tc>
                  <a:txBody>
                    <a:bodyPr/>
                    <a:lstStyle/>
                    <a:p>
                      <a:endParaRPr lang="en-US" sz="2800" b="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285044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Conversion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2.9%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7403802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Repeat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12.2%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3478680"/>
                  </a:ext>
                </a:extLst>
              </a:tr>
            </a:tbl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839C2C0E-26CC-49DA-890E-D2AB4BEA71EE}"/>
              </a:ext>
            </a:extLst>
          </p:cNvPr>
          <p:cNvSpPr txBox="1"/>
          <p:nvPr/>
        </p:nvSpPr>
        <p:spPr>
          <a:xfrm>
            <a:off x="20714039" y="412704"/>
            <a:ext cx="2838661" cy="523220"/>
          </a:xfrm>
          <a:prstGeom prst="rect">
            <a:avLst/>
          </a:prstGeom>
        </p:spPr>
        <p:txBody>
          <a:bodyPr wrap="none" rIns="0" rtlCol="0">
            <a:spAutoFit/>
          </a:bodyPr>
          <a:lstStyle/>
          <a:p>
            <a:pPr algn="r"/>
            <a:r>
              <a:rPr lang="en-US" sz="2800" b="1">
                <a:latin typeface="Pluto Sans Regular" panose="02000000000000000000" pitchFamily="50" charset="0"/>
              </a:rPr>
              <a:t>12 weeks post</a:t>
            </a:r>
            <a:endParaRPr lang="en-US" sz="2800" b="1" dirty="0">
              <a:latin typeface="Pluto Sans Regular" panose="02000000000000000000" pitchFamily="50" charset="0"/>
            </a:endParaRPr>
          </a:p>
        </p:txBody>
      </p:sp>
      <p:sp>
        <p:nvSpPr>
          <p:cNvPr id="24" name="Right Brace 23">
            <a:extLst>
              <a:ext uri="{FF2B5EF4-FFF2-40B4-BE49-F238E27FC236}">
                <a16:creationId xmlns:a16="http://schemas.microsoft.com/office/drawing/2014/main" id="{BAFEA72E-D878-4C7C-9428-0CBB0A06F5EF}"/>
              </a:ext>
            </a:extLst>
          </p:cNvPr>
          <p:cNvSpPr/>
          <p:nvPr/>
        </p:nvSpPr>
        <p:spPr>
          <a:xfrm rot="5400000">
            <a:off x="15489666" y="7454857"/>
            <a:ext cx="535746" cy="6097804"/>
          </a:xfrm>
          <a:prstGeom prst="rightBrace">
            <a:avLst>
              <a:gd name="adj1" fmla="val 1529167"/>
              <a:gd name="adj2" fmla="val 50000"/>
            </a:avLst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7200"/>
          </a:p>
        </p:txBody>
      </p:sp>
      <p:sp>
        <p:nvSpPr>
          <p:cNvPr id="34" name="Slide Number Placeholder 4">
            <a:extLst>
              <a:ext uri="{FF2B5EF4-FFF2-40B4-BE49-F238E27FC236}">
                <a16:creationId xmlns:a16="http://schemas.microsoft.com/office/drawing/2014/main" id="{C78F5EEF-0F9A-4256-B615-1EC35B1BBF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07190" y="13213976"/>
            <a:ext cx="5487114" cy="502024"/>
          </a:xfrm>
        </p:spPr>
        <p:txBody>
          <a:bodyPr/>
          <a:lstStyle/>
          <a:p>
            <a:fld id="{62066CCF-ECDE-414D-914A-C0A708193A68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7F27313-56C8-465E-9BB3-E4EE815F726F}"/>
              </a:ext>
            </a:extLst>
          </p:cNvPr>
          <p:cNvSpPr txBox="1"/>
          <p:nvPr/>
        </p:nvSpPr>
        <p:spPr>
          <a:xfrm>
            <a:off x="1290569" y="4863266"/>
            <a:ext cx="184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3952124-F887-4637-B27A-9B9557D3F8B1}"/>
              </a:ext>
            </a:extLst>
          </p:cNvPr>
          <p:cNvSpPr txBox="1"/>
          <p:nvPr/>
        </p:nvSpPr>
        <p:spPr>
          <a:xfrm>
            <a:off x="1290569" y="5519120"/>
            <a:ext cx="24609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Regular" panose="02000000000000000000" pitchFamily="50" charset="0"/>
              </a:rPr>
              <a:t>TIS Program</a:t>
            </a:r>
            <a:endParaRPr lang="en-US" sz="2800" dirty="0">
              <a:latin typeface="Pluto Sans Regular" panose="02000000000000000000" pitchFamily="50" charset="0"/>
            </a:endParaRPr>
          </a:p>
        </p:txBody>
      </p:sp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8AF2B0D1-E9C7-4A5C-AC87-93FC13BE6F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6337616"/>
              </p:ext>
            </p:extLst>
          </p:nvPr>
        </p:nvGraphicFramePr>
        <p:xfrm>
          <a:off x="18081358" y="3524059"/>
          <a:ext cx="4908637" cy="1950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18900">
                  <a:extLst>
                    <a:ext uri="{9D8B030D-6E8A-4147-A177-3AD203B41FA5}">
                      <a16:colId xmlns:a16="http://schemas.microsoft.com/office/drawing/2014/main" val="63823415"/>
                    </a:ext>
                  </a:extLst>
                </a:gridCol>
                <a:gridCol w="2489737">
                  <a:extLst>
                    <a:ext uri="{9D8B030D-6E8A-4147-A177-3AD203B41FA5}">
                      <a16:colId xmlns:a16="http://schemas.microsoft.com/office/drawing/2014/main" val="523179873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r>
                        <a:rPr lang="en-US" sz="2800" kern="1200" dirty="0">
                          <a:solidFill>
                            <a:schemeClr val="dk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Lift vs. previous 4 weeks</a:t>
                      </a: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694115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 b="1" kern="1200" dirty="0" err="1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Freeosk</a:t>
                      </a:r>
                      <a:endParaRPr lang="en-US" sz="2800" b="1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195%</a:t>
                      </a:r>
                      <a:endParaRPr lang="en-US" sz="3200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534296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>
                          <a:latin typeface="Pluto Sans Regular" panose="02000000000000000000" pitchFamily="50" charset="0"/>
                        </a:rPr>
                        <a:t>Control</a:t>
                      </a:r>
                      <a:endParaRPr lang="en-US" sz="28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dk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-22%</a:t>
                      </a:r>
                      <a:endParaRPr lang="en-US" sz="3200" kern="1200" dirty="0">
                        <a:solidFill>
                          <a:schemeClr val="dk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86268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59348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reeosk 1">
      <a:dk1>
        <a:srgbClr val="636669"/>
      </a:dk1>
      <a:lt1>
        <a:srgbClr val="FFFFFF"/>
      </a:lt1>
      <a:dk2>
        <a:srgbClr val="000000"/>
      </a:dk2>
      <a:lt2>
        <a:srgbClr val="EFEFEF"/>
      </a:lt2>
      <a:accent1>
        <a:srgbClr val="4DC3DF"/>
      </a:accent1>
      <a:accent2>
        <a:srgbClr val="626669"/>
      </a:accent2>
      <a:accent3>
        <a:srgbClr val="FF661F"/>
      </a:accent3>
      <a:accent4>
        <a:srgbClr val="78BE20"/>
      </a:accent4>
      <a:accent5>
        <a:srgbClr val="96999B"/>
      </a:accent5>
      <a:accent6>
        <a:srgbClr val="B1B2B2"/>
      </a:accent6>
      <a:hlink>
        <a:srgbClr val="4DC3DF"/>
      </a:hlink>
      <a:folHlink>
        <a:srgbClr val="5CA3BC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eeosk Analytics 2019 16x9 Template BETA1.0" id="{E3960610-F346-504D-BB4F-2443785C370E}" vid="{7D95555C-7865-4E42-8B65-815FAEDD67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Freeosk Analytics 2019 16x9 Template</Template>
  <TotalTime>1316</TotalTime>
  <Words>139</Words>
  <Application>Microsoft Office PowerPoint</Application>
  <PresentationFormat>Custom</PresentationFormat>
  <Paragraphs>42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Arial</vt:lpstr>
      <vt:lpstr>Calibri</vt:lpstr>
      <vt:lpstr>Pluto Sans</vt:lpstr>
      <vt:lpstr>Pluto Sans Bold</vt:lpstr>
      <vt:lpstr>Pluto Sans Cond Regular</vt:lpstr>
      <vt:lpstr>Pluto Sans Regular</vt:lpstr>
      <vt:lpstr>PT Sans Caption</vt:lpstr>
      <vt:lpstr>Office Theme</vt:lpstr>
      <vt:lpstr>Omega Oils case study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Analytics</dc:creator>
  <cp:lastModifiedBy>Ashleigh Covello-Phillips</cp:lastModifiedBy>
  <cp:revision>368</cp:revision>
  <dcterms:created xsi:type="dcterms:W3CDTF">2018-12-12T20:08:26Z</dcterms:created>
  <dcterms:modified xsi:type="dcterms:W3CDTF">2019-06-24T20:17:35Z</dcterms:modified>
</cp:coreProperties>
</file>