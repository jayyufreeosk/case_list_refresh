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8.6037767824516109E-2"/>
          <c:w val="0.8602592449132539"/>
          <c:h val="0.762521891028044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320</c:v>
                </c:pt>
                <c:pt idx="1">
                  <c:v>350</c:v>
                </c:pt>
                <c:pt idx="2">
                  <c:v>300</c:v>
                </c:pt>
                <c:pt idx="3">
                  <c:v>290</c:v>
                </c:pt>
                <c:pt idx="4">
                  <c:v>310</c:v>
                </c:pt>
                <c:pt idx="5">
                  <c:v>320</c:v>
                </c:pt>
                <c:pt idx="6">
                  <c:v>300</c:v>
                </c:pt>
                <c:pt idx="7">
                  <c:v>320</c:v>
                </c:pt>
                <c:pt idx="8">
                  <c:v>310</c:v>
                </c:pt>
                <c:pt idx="9">
                  <c:v>310</c:v>
                </c:pt>
                <c:pt idx="10">
                  <c:v>340</c:v>
                </c:pt>
                <c:pt idx="11">
                  <c:v>400</c:v>
                </c:pt>
                <c:pt idx="12">
                  <c:v>330</c:v>
                </c:pt>
                <c:pt idx="13">
                  <c:v>330</c:v>
                </c:pt>
                <c:pt idx="14">
                  <c:v>330</c:v>
                </c:pt>
                <c:pt idx="15">
                  <c:v>340</c:v>
                </c:pt>
                <c:pt idx="16">
                  <c:v>450</c:v>
                </c:pt>
                <c:pt idx="17">
                  <c:v>600</c:v>
                </c:pt>
                <c:pt idx="18">
                  <c:v>560</c:v>
                </c:pt>
                <c:pt idx="19">
                  <c:v>550</c:v>
                </c:pt>
                <c:pt idx="20">
                  <c:v>540</c:v>
                </c:pt>
                <c:pt idx="21">
                  <c:v>450</c:v>
                </c:pt>
                <c:pt idx="22">
                  <c:v>360</c:v>
                </c:pt>
                <c:pt idx="23">
                  <c:v>340</c:v>
                </c:pt>
                <c:pt idx="24">
                  <c:v>360</c:v>
                </c:pt>
                <c:pt idx="25">
                  <c:v>340</c:v>
                </c:pt>
                <c:pt idx="26">
                  <c:v>400</c:v>
                </c:pt>
                <c:pt idx="27">
                  <c:v>470</c:v>
                </c:pt>
                <c:pt idx="28">
                  <c:v>350</c:v>
                </c:pt>
                <c:pt idx="29">
                  <c:v>340</c:v>
                </c:pt>
                <c:pt idx="30">
                  <c:v>310</c:v>
                </c:pt>
                <c:pt idx="31">
                  <c:v>280</c:v>
                </c:pt>
                <c:pt idx="32">
                  <c:v>290</c:v>
                </c:pt>
                <c:pt idx="33">
                  <c:v>260</c:v>
                </c:pt>
                <c:pt idx="34">
                  <c:v>310</c:v>
                </c:pt>
                <c:pt idx="35">
                  <c:v>300</c:v>
                </c:pt>
                <c:pt idx="36">
                  <c:v>300</c:v>
                </c:pt>
                <c:pt idx="37">
                  <c:v>310</c:v>
                </c:pt>
                <c:pt idx="38">
                  <c:v>310</c:v>
                </c:pt>
                <c:pt idx="39">
                  <c:v>290</c:v>
                </c:pt>
                <c:pt idx="40">
                  <c:v>320</c:v>
                </c:pt>
                <c:pt idx="41">
                  <c:v>290</c:v>
                </c:pt>
                <c:pt idx="42">
                  <c:v>300</c:v>
                </c:pt>
                <c:pt idx="43">
                  <c:v>330</c:v>
                </c:pt>
                <c:pt idx="44">
                  <c:v>320</c:v>
                </c:pt>
                <c:pt idx="45">
                  <c:v>310</c:v>
                </c:pt>
                <c:pt idx="46">
                  <c:v>270</c:v>
                </c:pt>
                <c:pt idx="47">
                  <c:v>270</c:v>
                </c:pt>
                <c:pt idx="48">
                  <c:v>280</c:v>
                </c:pt>
                <c:pt idx="49">
                  <c:v>280</c:v>
                </c:pt>
                <c:pt idx="50">
                  <c:v>290</c:v>
                </c:pt>
                <c:pt idx="51">
                  <c:v>310</c:v>
                </c:pt>
                <c:pt idx="52">
                  <c:v>600</c:v>
                </c:pt>
                <c:pt idx="53">
                  <c:v>260</c:v>
                </c:pt>
                <c:pt idx="54">
                  <c:v>300</c:v>
                </c:pt>
                <c:pt idx="55">
                  <c:v>310</c:v>
                </c:pt>
                <c:pt idx="56">
                  <c:v>330</c:v>
                </c:pt>
                <c:pt idx="57">
                  <c:v>360</c:v>
                </c:pt>
                <c:pt idx="58">
                  <c:v>350</c:v>
                </c:pt>
                <c:pt idx="59">
                  <c:v>310</c:v>
                </c:pt>
                <c:pt idx="60">
                  <c:v>690</c:v>
                </c:pt>
                <c:pt idx="61">
                  <c:v>590</c:v>
                </c:pt>
                <c:pt idx="62">
                  <c:v>610</c:v>
                </c:pt>
                <c:pt idx="63">
                  <c:v>450</c:v>
                </c:pt>
                <c:pt idx="64">
                  <c:v>240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200</c:v>
                </c:pt>
                <c:pt idx="1">
                  <c:v>220</c:v>
                </c:pt>
                <c:pt idx="2">
                  <c:v>210</c:v>
                </c:pt>
                <c:pt idx="3">
                  <c:v>200</c:v>
                </c:pt>
                <c:pt idx="4">
                  <c:v>200</c:v>
                </c:pt>
                <c:pt idx="5">
                  <c:v>200</c:v>
                </c:pt>
                <c:pt idx="6">
                  <c:v>190</c:v>
                </c:pt>
                <c:pt idx="7">
                  <c:v>220</c:v>
                </c:pt>
                <c:pt idx="8">
                  <c:v>210</c:v>
                </c:pt>
                <c:pt idx="9">
                  <c:v>210</c:v>
                </c:pt>
                <c:pt idx="10">
                  <c:v>240</c:v>
                </c:pt>
                <c:pt idx="11">
                  <c:v>300</c:v>
                </c:pt>
                <c:pt idx="12">
                  <c:v>220</c:v>
                </c:pt>
                <c:pt idx="13">
                  <c:v>240</c:v>
                </c:pt>
                <c:pt idx="14">
                  <c:v>220</c:v>
                </c:pt>
                <c:pt idx="15">
                  <c:v>230</c:v>
                </c:pt>
                <c:pt idx="16">
                  <c:v>300</c:v>
                </c:pt>
                <c:pt idx="17">
                  <c:v>470</c:v>
                </c:pt>
                <c:pt idx="18">
                  <c:v>390</c:v>
                </c:pt>
                <c:pt idx="19">
                  <c:v>380</c:v>
                </c:pt>
                <c:pt idx="20">
                  <c:v>350</c:v>
                </c:pt>
                <c:pt idx="21">
                  <c:v>270</c:v>
                </c:pt>
                <c:pt idx="22">
                  <c:v>230</c:v>
                </c:pt>
                <c:pt idx="23">
                  <c:v>210</c:v>
                </c:pt>
                <c:pt idx="24">
                  <c:v>220</c:v>
                </c:pt>
                <c:pt idx="25">
                  <c:v>200</c:v>
                </c:pt>
                <c:pt idx="26">
                  <c:v>260</c:v>
                </c:pt>
                <c:pt idx="27">
                  <c:v>330</c:v>
                </c:pt>
                <c:pt idx="28">
                  <c:v>220</c:v>
                </c:pt>
                <c:pt idx="29">
                  <c:v>210</c:v>
                </c:pt>
                <c:pt idx="30">
                  <c:v>210</c:v>
                </c:pt>
                <c:pt idx="31">
                  <c:v>180</c:v>
                </c:pt>
                <c:pt idx="32">
                  <c:v>170</c:v>
                </c:pt>
                <c:pt idx="33">
                  <c:v>160</c:v>
                </c:pt>
                <c:pt idx="34">
                  <c:v>200</c:v>
                </c:pt>
                <c:pt idx="35">
                  <c:v>190</c:v>
                </c:pt>
                <c:pt idx="36">
                  <c:v>190</c:v>
                </c:pt>
                <c:pt idx="37">
                  <c:v>190</c:v>
                </c:pt>
                <c:pt idx="38">
                  <c:v>210</c:v>
                </c:pt>
                <c:pt idx="39">
                  <c:v>180</c:v>
                </c:pt>
                <c:pt idx="40">
                  <c:v>200</c:v>
                </c:pt>
                <c:pt idx="41">
                  <c:v>190</c:v>
                </c:pt>
                <c:pt idx="42">
                  <c:v>200</c:v>
                </c:pt>
                <c:pt idx="43">
                  <c:v>220</c:v>
                </c:pt>
                <c:pt idx="44">
                  <c:v>210</c:v>
                </c:pt>
                <c:pt idx="45">
                  <c:v>210</c:v>
                </c:pt>
                <c:pt idx="46">
                  <c:v>180</c:v>
                </c:pt>
                <c:pt idx="47">
                  <c:v>180</c:v>
                </c:pt>
                <c:pt idx="48">
                  <c:v>180</c:v>
                </c:pt>
                <c:pt idx="49">
                  <c:v>180</c:v>
                </c:pt>
                <c:pt idx="50">
                  <c:v>190</c:v>
                </c:pt>
                <c:pt idx="51">
                  <c:v>200</c:v>
                </c:pt>
                <c:pt idx="52">
                  <c:v>200</c:v>
                </c:pt>
                <c:pt idx="53">
                  <c:v>210</c:v>
                </c:pt>
                <c:pt idx="54">
                  <c:v>200</c:v>
                </c:pt>
                <c:pt idx="55">
                  <c:v>200</c:v>
                </c:pt>
                <c:pt idx="56">
                  <c:v>220</c:v>
                </c:pt>
                <c:pt idx="57">
                  <c:v>230</c:v>
                </c:pt>
                <c:pt idx="58">
                  <c:v>220</c:v>
                </c:pt>
                <c:pt idx="59">
                  <c:v>200</c:v>
                </c:pt>
                <c:pt idx="60">
                  <c:v>480</c:v>
                </c:pt>
                <c:pt idx="61">
                  <c:v>410</c:v>
                </c:pt>
                <c:pt idx="62">
                  <c:v>420</c:v>
                </c:pt>
                <c:pt idx="63">
                  <c:v>300</c:v>
                </c:pt>
                <c:pt idx="64">
                  <c:v>160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600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589108992372763"/>
          <c:y val="2.842105585901885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luto Sans Cond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1/8/2019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1/8/2019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8695587"/>
              </p:ext>
            </p:extLst>
          </p:nvPr>
        </p:nvGraphicFramePr>
        <p:xfrm>
          <a:off x="8967968" y="3473100"/>
          <a:ext cx="9113390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b">
            <a:normAutofit/>
          </a:bodyPr>
          <a:lstStyle/>
          <a:p>
            <a:r>
              <a:rPr lang="en-US" sz="5400"/>
              <a:t>Skin Care case study</a:t>
            </a:r>
            <a:endParaRPr lang="en-US" sz="5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8" y="3879240"/>
            <a:ext cx="292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accent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Cond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Cond Regular" panose="02000000000000000000" pitchFamily="50" charset="0"/>
              </a:rPr>
              <a:t>Freeosk</a:t>
            </a:r>
            <a:r>
              <a:rPr lang="en-US" sz="2800" dirty="0">
                <a:latin typeface="Pluto Sans Cond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142554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3600" kern="1200">
                          <a:solidFill>
                            <a:schemeClr val="tx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11,019</a:t>
                      </a:r>
                      <a:endParaRPr lang="en-US" sz="3600" kern="1200" dirty="0">
                        <a:solidFill>
                          <a:schemeClr val="tx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>
                          <a:solidFill>
                            <a:schemeClr val="accent1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71%</a:t>
                      </a:r>
                      <a:endParaRPr lang="en-US" sz="4800" dirty="0">
                        <a:solidFill>
                          <a:schemeClr val="accent1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>
                          <a:solidFill>
                            <a:schemeClr val="accent4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8%</a:t>
                      </a:r>
                      <a:endParaRPr lang="en-US" sz="4800" dirty="0">
                        <a:solidFill>
                          <a:schemeClr val="accent4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kern="1200">
                          <a:solidFill>
                            <a:schemeClr val="accent2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21%</a:t>
                      </a:r>
                      <a:endParaRPr lang="en-US" sz="4800" b="1" kern="1200" dirty="0">
                        <a:solidFill>
                          <a:schemeClr val="accent2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400" baseline="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4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PT Sans Caption"/>
                        </a:rPr>
                        <a:t>(A + B): 79%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39876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275 clubs</a:t>
            </a:r>
          </a:p>
          <a:p>
            <a:r>
              <a:rPr lang="en-US" sz="2800">
                <a:latin typeface="Pluto Sans Cond Regular" panose="02000000000000000000" pitchFamily="50" charset="0"/>
              </a:rPr>
              <a:t>Secondary Item (Merch)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4563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Sub-Category: Skin Care</a:t>
            </a:r>
            <a:endParaRPr lang="en-US" sz="3200" dirty="0">
              <a:solidFill>
                <a:schemeClr val="tx2"/>
              </a:solidFill>
              <a:latin typeface="Pluto Sans Cond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860139"/>
              </p:ext>
            </p:extLst>
          </p:nvPr>
        </p:nvGraphicFramePr>
        <p:xfrm>
          <a:off x="1290570" y="7874489"/>
          <a:ext cx="7170435" cy="355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22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252984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455110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789428">
                <a:tc gridSpan="4"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3.3M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86K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2.6%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endParaRPr lang="en-US" sz="2800" b="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12.8%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10.6%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1153646" y="412704"/>
            <a:ext cx="2399054" cy="461665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2400">
                <a:latin typeface="Pluto Bold" panose="020B0803020203060204" pitchFamily="34" charset="0"/>
              </a:rPr>
              <a:t>12 weeks post</a:t>
            </a:r>
            <a:endParaRPr lang="en-US" sz="2400" dirty="0">
              <a:latin typeface="Pluto Bold" panose="020B080302020306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TIS Program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152361"/>
              </p:ext>
            </p:extLst>
          </p:nvPr>
        </p:nvGraphicFramePr>
        <p:xfrm>
          <a:off x="18353335" y="3524059"/>
          <a:ext cx="46366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33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31833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226307">
                <a:tc>
                  <a:txBody>
                    <a:bodyPr/>
                    <a:lstStyle/>
                    <a:p>
                      <a:r>
                        <a:rPr lang="en-US" sz="3600" b="1" kern="1200" dirty="0" err="1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3600" b="1" kern="1200" dirty="0">
                        <a:solidFill>
                          <a:schemeClr val="accent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>
                          <a:solidFill>
                            <a:schemeClr val="accent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109%</a:t>
                      </a:r>
                      <a:endParaRPr lang="en-US" sz="4000" kern="1200" dirty="0">
                        <a:solidFill>
                          <a:schemeClr val="accent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Cond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>
                          <a:solidFill>
                            <a:schemeClr val="dk1"/>
                          </a:solidFill>
                          <a:latin typeface="Pluto Bold" panose="020B0803020203060204" pitchFamily="34" charset="0"/>
                          <a:ea typeface="+mn-ea"/>
                          <a:cs typeface="+mn-cs"/>
                        </a:rPr>
                        <a:t>8%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Pluto Bold" panose="020B0803020203060204" pitchFamily="34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505</TotalTime>
  <Words>137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Bold</vt:lpstr>
      <vt:lpstr>Pluto Sans</vt:lpstr>
      <vt:lpstr>Pluto Sans Bold</vt:lpstr>
      <vt:lpstr>Pluto Sans Cond Regular</vt:lpstr>
      <vt:lpstr>PT Sans Caption</vt:lpstr>
      <vt:lpstr>Office Theme</vt:lpstr>
      <vt:lpstr>Skin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174</cp:revision>
  <dcterms:created xsi:type="dcterms:W3CDTF">2018-12-12T20:08:26Z</dcterms:created>
  <dcterms:modified xsi:type="dcterms:W3CDTF">2019-01-08T17:07:02Z</dcterms:modified>
</cp:coreProperties>
</file>