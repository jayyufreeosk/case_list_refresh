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8.6037767824516109E-2"/>
          <c:w val="0.8602592449132539"/>
          <c:h val="0.762521891028044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43315</c:v>
                </c:pt>
                <c:pt idx="45">
                  <c:v>43322</c:v>
                </c:pt>
                <c:pt idx="46">
                  <c:v>43329</c:v>
                </c:pt>
                <c:pt idx="47">
                  <c:v>43336</c:v>
                </c:pt>
                <c:pt idx="48">
                  <c:v>43343</c:v>
                </c:pt>
                <c:pt idx="49">
                  <c:v>43350</c:v>
                </c:pt>
                <c:pt idx="50">
                  <c:v>43357</c:v>
                </c:pt>
                <c:pt idx="51">
                  <c:v>43364</c:v>
                </c:pt>
                <c:pt idx="52">
                  <c:v>43371</c:v>
                </c:pt>
                <c:pt idx="53">
                  <c:v>43378</c:v>
                </c:pt>
                <c:pt idx="54">
                  <c:v>43385</c:v>
                </c:pt>
                <c:pt idx="55">
                  <c:v>43392</c:v>
                </c:pt>
                <c:pt idx="56">
                  <c:v>43399</c:v>
                </c:pt>
                <c:pt idx="57">
                  <c:v>43406</c:v>
                </c:pt>
                <c:pt idx="58">
                  <c:v>43413</c:v>
                </c:pt>
                <c:pt idx="59">
                  <c:v>43420</c:v>
                </c:pt>
                <c:pt idx="60">
                  <c:v>43427</c:v>
                </c:pt>
                <c:pt idx="61">
                  <c:v>43434</c:v>
                </c:pt>
                <c:pt idx="62">
                  <c:v>43441</c:v>
                </c:pt>
                <c:pt idx="63">
                  <c:v>43448</c:v>
                </c:pt>
                <c:pt idx="64">
                  <c:v>43455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0</c:v>
                </c:pt>
                <c:pt idx="45">
                  <c:v>10</c:v>
                </c:pt>
                <c:pt idx="46">
                  <c:v>10</c:v>
                </c:pt>
                <c:pt idx="47">
                  <c:v>10</c:v>
                </c:pt>
                <c:pt idx="48">
                  <c:v>20</c:v>
                </c:pt>
                <c:pt idx="49">
                  <c:v>20</c:v>
                </c:pt>
                <c:pt idx="50">
                  <c:v>20</c:v>
                </c:pt>
                <c:pt idx="51">
                  <c:v>20</c:v>
                </c:pt>
                <c:pt idx="52">
                  <c:v>120</c:v>
                </c:pt>
                <c:pt idx="53">
                  <c:v>30</c:v>
                </c:pt>
                <c:pt idx="54">
                  <c:v>30</c:v>
                </c:pt>
                <c:pt idx="55">
                  <c:v>30</c:v>
                </c:pt>
                <c:pt idx="56">
                  <c:v>20</c:v>
                </c:pt>
                <c:pt idx="57">
                  <c:v>20</c:v>
                </c:pt>
                <c:pt idx="58">
                  <c:v>30</c:v>
                </c:pt>
                <c:pt idx="59">
                  <c:v>30</c:v>
                </c:pt>
                <c:pt idx="60">
                  <c:v>30</c:v>
                </c:pt>
                <c:pt idx="61">
                  <c:v>30</c:v>
                </c:pt>
                <c:pt idx="62">
                  <c:v>70</c:v>
                </c:pt>
                <c:pt idx="63">
                  <c:v>70</c:v>
                </c:pt>
                <c:pt idx="64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43315</c:v>
                </c:pt>
                <c:pt idx="45">
                  <c:v>43322</c:v>
                </c:pt>
                <c:pt idx="46">
                  <c:v>43329</c:v>
                </c:pt>
                <c:pt idx="47">
                  <c:v>43336</c:v>
                </c:pt>
                <c:pt idx="48">
                  <c:v>43343</c:v>
                </c:pt>
                <c:pt idx="49">
                  <c:v>43350</c:v>
                </c:pt>
                <c:pt idx="50">
                  <c:v>43357</c:v>
                </c:pt>
                <c:pt idx="51">
                  <c:v>43364</c:v>
                </c:pt>
                <c:pt idx="52">
                  <c:v>43371</c:v>
                </c:pt>
                <c:pt idx="53">
                  <c:v>43378</c:v>
                </c:pt>
                <c:pt idx="54">
                  <c:v>43385</c:v>
                </c:pt>
                <c:pt idx="55">
                  <c:v>43392</c:v>
                </c:pt>
                <c:pt idx="56">
                  <c:v>43399</c:v>
                </c:pt>
                <c:pt idx="57">
                  <c:v>43406</c:v>
                </c:pt>
                <c:pt idx="58">
                  <c:v>43413</c:v>
                </c:pt>
                <c:pt idx="59">
                  <c:v>43420</c:v>
                </c:pt>
                <c:pt idx="60">
                  <c:v>43427</c:v>
                </c:pt>
                <c:pt idx="61">
                  <c:v>43434</c:v>
                </c:pt>
                <c:pt idx="62">
                  <c:v>43441</c:v>
                </c:pt>
                <c:pt idx="63">
                  <c:v>43448</c:v>
                </c:pt>
                <c:pt idx="64">
                  <c:v>43455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0</c:v>
                </c:pt>
                <c:pt idx="45">
                  <c:v>10</c:v>
                </c:pt>
                <c:pt idx="46">
                  <c:v>10</c:v>
                </c:pt>
                <c:pt idx="47">
                  <c:v>10</c:v>
                </c:pt>
                <c:pt idx="48">
                  <c:v>10</c:v>
                </c:pt>
                <c:pt idx="49">
                  <c:v>10</c:v>
                </c:pt>
                <c:pt idx="50">
                  <c:v>10</c:v>
                </c:pt>
                <c:pt idx="51">
                  <c:v>10</c:v>
                </c:pt>
                <c:pt idx="52">
                  <c:v>10</c:v>
                </c:pt>
                <c:pt idx="53">
                  <c:v>10</c:v>
                </c:pt>
                <c:pt idx="54">
                  <c:v>10</c:v>
                </c:pt>
                <c:pt idx="55">
                  <c:v>10</c:v>
                </c:pt>
                <c:pt idx="56">
                  <c:v>10</c:v>
                </c:pt>
                <c:pt idx="57">
                  <c:v>10</c:v>
                </c:pt>
                <c:pt idx="58">
                  <c:v>20</c:v>
                </c:pt>
                <c:pt idx="59">
                  <c:v>10</c:v>
                </c:pt>
                <c:pt idx="60">
                  <c:v>20</c:v>
                </c:pt>
                <c:pt idx="61">
                  <c:v>20</c:v>
                </c:pt>
                <c:pt idx="62">
                  <c:v>40</c:v>
                </c:pt>
                <c:pt idx="63">
                  <c:v>40</c:v>
                </c:pt>
                <c:pt idx="64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15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43315</c:v>
                </c:pt>
                <c:pt idx="45">
                  <c:v>43322</c:v>
                </c:pt>
                <c:pt idx="46">
                  <c:v>43329</c:v>
                </c:pt>
                <c:pt idx="47">
                  <c:v>43336</c:v>
                </c:pt>
                <c:pt idx="48">
                  <c:v>43343</c:v>
                </c:pt>
                <c:pt idx="49">
                  <c:v>43350</c:v>
                </c:pt>
                <c:pt idx="50">
                  <c:v>43357</c:v>
                </c:pt>
                <c:pt idx="51">
                  <c:v>43364</c:v>
                </c:pt>
                <c:pt idx="52">
                  <c:v>43371</c:v>
                </c:pt>
                <c:pt idx="53">
                  <c:v>43378</c:v>
                </c:pt>
                <c:pt idx="54">
                  <c:v>43385</c:v>
                </c:pt>
                <c:pt idx="55">
                  <c:v>43392</c:v>
                </c:pt>
                <c:pt idx="56">
                  <c:v>43399</c:v>
                </c:pt>
                <c:pt idx="57">
                  <c:v>43406</c:v>
                </c:pt>
                <c:pt idx="58">
                  <c:v>43413</c:v>
                </c:pt>
                <c:pt idx="59">
                  <c:v>43420</c:v>
                </c:pt>
                <c:pt idx="60">
                  <c:v>43427</c:v>
                </c:pt>
                <c:pt idx="61">
                  <c:v>43434</c:v>
                </c:pt>
                <c:pt idx="62">
                  <c:v>43441</c:v>
                </c:pt>
                <c:pt idx="63">
                  <c:v>43448</c:v>
                </c:pt>
                <c:pt idx="64">
                  <c:v>43455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589108992372763"/>
          <c:y val="2.842105585901885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luto Sans Cond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5729000"/>
              </p:ext>
            </p:extLst>
          </p:nvPr>
        </p:nvGraphicFramePr>
        <p:xfrm>
          <a:off x="8967968" y="3473100"/>
          <a:ext cx="9113390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rmAutofit/>
          </a:bodyPr>
          <a:lstStyle/>
          <a:p>
            <a:r>
              <a:rPr lang="en-US" sz="5400"/>
              <a:t>Omega Oils case study</a:t>
            </a:r>
            <a:endParaRPr lang="en-US" sz="5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8" y="3879240"/>
            <a:ext cx="2926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1"/>
                </a:solidFill>
                <a:latin typeface="Pluto Sans Cond Regular" panose="02000000000000000000" pitchFamily="50" charset="0"/>
              </a:rPr>
              <a:t>#1 sales week</a:t>
            </a:r>
            <a:endParaRPr lang="en-US" sz="2000" dirty="0">
              <a:solidFill>
                <a:schemeClr val="accent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Cond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Cond Regular" panose="02000000000000000000" pitchFamily="50" charset="0"/>
              </a:rPr>
              <a:t>Freeosk</a:t>
            </a:r>
            <a:r>
              <a:rPr lang="en-US" sz="2800" dirty="0">
                <a:latin typeface="Pluto Sans Cond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677651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3600" kern="1200">
                          <a:solidFill>
                            <a:schemeClr val="tx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1,554</a:t>
                      </a:r>
                      <a:endParaRPr lang="en-US" sz="3600" kern="1200" dirty="0">
                        <a:solidFill>
                          <a:schemeClr val="tx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>
                          <a:solidFill>
                            <a:schemeClr val="accent1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84%</a:t>
                      </a:r>
                      <a:endParaRPr lang="en-US" sz="4800" dirty="0">
                        <a:solidFill>
                          <a:schemeClr val="accent1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>
                          <a:solidFill>
                            <a:schemeClr val="accent4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14%</a:t>
                      </a:r>
                      <a:endParaRPr lang="en-US" sz="4800" dirty="0">
                        <a:solidFill>
                          <a:schemeClr val="accent4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kern="1200">
                          <a:solidFill>
                            <a:schemeClr val="accent2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1%</a:t>
                      </a:r>
                      <a:endParaRPr lang="en-US" sz="4800" b="1" kern="1200" dirty="0">
                        <a:solidFill>
                          <a:schemeClr val="accent2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400" baseline="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4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2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PT Sans Caption"/>
                        </a:rPr>
                        <a:t>(A + B): 99%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37523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189 clubs</a:t>
            </a:r>
          </a:p>
          <a:p>
            <a:r>
              <a:rPr lang="en-US" sz="2800">
                <a:latin typeface="Pluto Sans Cond Regular" panose="02000000000000000000" pitchFamily="50" charset="0"/>
              </a:rPr>
              <a:t>Primary Item (Sample)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06497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Sub-Category: Omega Oils</a:t>
            </a:r>
            <a:endParaRPr lang="en-US" sz="3200" dirty="0">
              <a:solidFill>
                <a:schemeClr val="tx2"/>
              </a:solidFill>
              <a:latin typeface="Pluto Sans Cond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774464"/>
              </p:ext>
            </p:extLst>
          </p:nvPr>
        </p:nvGraphicFramePr>
        <p:xfrm>
          <a:off x="1290570" y="7874489"/>
          <a:ext cx="7170435" cy="355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122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252984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745219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455110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789428">
                <a:tc gridSpan="4"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2.5M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151K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6.0%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endParaRPr lang="en-US" sz="2800" b="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1.0%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13.5%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1153646" y="412704"/>
            <a:ext cx="2399054" cy="461665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2400">
                <a:latin typeface="Pluto Bold" panose="020B0803020203060204" pitchFamily="34" charset="0"/>
              </a:rPr>
              <a:t>12 weeks post</a:t>
            </a:r>
            <a:endParaRPr lang="en-US" sz="2400" dirty="0">
              <a:latin typeface="Pluto Bold" panose="020B0803020203060204" pitchFamily="34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TIS Program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302011"/>
              </p:ext>
            </p:extLst>
          </p:nvPr>
        </p:nvGraphicFramePr>
        <p:xfrm>
          <a:off x="18353335" y="3524059"/>
          <a:ext cx="46366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33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318330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226307">
                <a:tc>
                  <a:txBody>
                    <a:bodyPr/>
                    <a:lstStyle/>
                    <a:p>
                      <a:r>
                        <a:rPr lang="en-US" sz="3600" b="1" kern="1200" dirty="0" err="1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3600" b="1" kern="1200" dirty="0">
                        <a:solidFill>
                          <a:schemeClr val="accent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>
                          <a:solidFill>
                            <a:schemeClr val="accent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631%</a:t>
                      </a:r>
                      <a:endParaRPr lang="en-US" sz="4000" kern="1200" dirty="0">
                        <a:solidFill>
                          <a:schemeClr val="accent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Cond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>
                          <a:solidFill>
                            <a:schemeClr val="dk1"/>
                          </a:solidFill>
                          <a:latin typeface="Pluto Bold" panose="020B0803020203060204" pitchFamily="34" charset="0"/>
                          <a:ea typeface="+mn-ea"/>
                          <a:cs typeface="+mn-cs"/>
                        </a:rPr>
                        <a:t>9%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Pluto Bold" panose="020B0803020203060204" pitchFamily="34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1376</TotalTime>
  <Words>138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Bold</vt:lpstr>
      <vt:lpstr>Pluto Sans</vt:lpstr>
      <vt:lpstr>Pluto Sans Bold</vt:lpstr>
      <vt:lpstr>Pluto Sans Cond Regular</vt:lpstr>
      <vt:lpstr>PT Sans Caption</vt:lpstr>
      <vt:lpstr>Office Theme</vt:lpstr>
      <vt:lpstr>Omega Oils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258</cp:revision>
  <dcterms:created xsi:type="dcterms:W3CDTF">2018-12-12T20:08:26Z</dcterms:created>
  <dcterms:modified xsi:type="dcterms:W3CDTF">2019-01-21T19:51:00Z</dcterms:modified>
</cp:coreProperties>
</file>