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899"/>
    <a:srgbClr val="FFFFFF"/>
    <a:srgbClr val="63666A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4" d="100"/>
          <a:sy n="34" d="100"/>
        </p:scale>
        <p:origin x="1116" y="84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8.6037767824516109E-2"/>
          <c:w val="0.8602592449132539"/>
          <c:h val="0.76252189102804424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0</c:v>
                </c:pt>
                <c:pt idx="32">
                  <c:v>10</c:v>
                </c:pt>
                <c:pt idx="33">
                  <c:v>30</c:v>
                </c:pt>
                <c:pt idx="34">
                  <c:v>130</c:v>
                </c:pt>
                <c:pt idx="35">
                  <c:v>210</c:v>
                </c:pt>
                <c:pt idx="36">
                  <c:v>330</c:v>
                </c:pt>
                <c:pt idx="37">
                  <c:v>400</c:v>
                </c:pt>
                <c:pt idx="38">
                  <c:v>430</c:v>
                </c:pt>
                <c:pt idx="39">
                  <c:v>500</c:v>
                </c:pt>
                <c:pt idx="40">
                  <c:v>540</c:v>
                </c:pt>
                <c:pt idx="41">
                  <c:v>600</c:v>
                </c:pt>
                <c:pt idx="42">
                  <c:v>610</c:v>
                </c:pt>
                <c:pt idx="43">
                  <c:v>640</c:v>
                </c:pt>
                <c:pt idx="44">
                  <c:v>630</c:v>
                </c:pt>
                <c:pt idx="45">
                  <c:v>600</c:v>
                </c:pt>
                <c:pt idx="46">
                  <c:v>630</c:v>
                </c:pt>
                <c:pt idx="47">
                  <c:v>550</c:v>
                </c:pt>
                <c:pt idx="48">
                  <c:v>590</c:v>
                </c:pt>
                <c:pt idx="49">
                  <c:v>600</c:v>
                </c:pt>
                <c:pt idx="50">
                  <c:v>620</c:v>
                </c:pt>
                <c:pt idx="51">
                  <c:v>610</c:v>
                </c:pt>
                <c:pt idx="52">
                  <c:v>750</c:v>
                </c:pt>
                <c:pt idx="53">
                  <c:v>830</c:v>
                </c:pt>
                <c:pt idx="54">
                  <c:v>1130</c:v>
                </c:pt>
                <c:pt idx="55">
                  <c:v>1080</c:v>
                </c:pt>
                <c:pt idx="56">
                  <c:v>970</c:v>
                </c:pt>
                <c:pt idx="57">
                  <c:v>920</c:v>
                </c:pt>
                <c:pt idx="58">
                  <c:v>660</c:v>
                </c:pt>
                <c:pt idx="59">
                  <c:v>620</c:v>
                </c:pt>
                <c:pt idx="60">
                  <c:v>570</c:v>
                </c:pt>
                <c:pt idx="61">
                  <c:v>650</c:v>
                </c:pt>
                <c:pt idx="62">
                  <c:v>520</c:v>
                </c:pt>
                <c:pt idx="63">
                  <c:v>550</c:v>
                </c:pt>
                <c:pt idx="64">
                  <c:v>620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0</c:v>
                </c:pt>
                <c:pt idx="33">
                  <c:v>0</c:v>
                </c:pt>
                <c:pt idx="34">
                  <c:v>20</c:v>
                </c:pt>
                <c:pt idx="35">
                  <c:v>50</c:v>
                </c:pt>
                <c:pt idx="36">
                  <c:v>90</c:v>
                </c:pt>
                <c:pt idx="37">
                  <c:v>120</c:v>
                </c:pt>
                <c:pt idx="38">
                  <c:v>150</c:v>
                </c:pt>
                <c:pt idx="39">
                  <c:v>190</c:v>
                </c:pt>
                <c:pt idx="40">
                  <c:v>230</c:v>
                </c:pt>
                <c:pt idx="41">
                  <c:v>250</c:v>
                </c:pt>
                <c:pt idx="42">
                  <c:v>280</c:v>
                </c:pt>
                <c:pt idx="43">
                  <c:v>290</c:v>
                </c:pt>
                <c:pt idx="44">
                  <c:v>290</c:v>
                </c:pt>
                <c:pt idx="45">
                  <c:v>280</c:v>
                </c:pt>
                <c:pt idx="46">
                  <c:v>300</c:v>
                </c:pt>
                <c:pt idx="47">
                  <c:v>280</c:v>
                </c:pt>
                <c:pt idx="48">
                  <c:v>270</c:v>
                </c:pt>
                <c:pt idx="49">
                  <c:v>290</c:v>
                </c:pt>
                <c:pt idx="50">
                  <c:v>400</c:v>
                </c:pt>
                <c:pt idx="51">
                  <c:v>460</c:v>
                </c:pt>
                <c:pt idx="52">
                  <c:v>450</c:v>
                </c:pt>
                <c:pt idx="53">
                  <c:v>600</c:v>
                </c:pt>
                <c:pt idx="54">
                  <c:v>830</c:v>
                </c:pt>
                <c:pt idx="55">
                  <c:v>780</c:v>
                </c:pt>
                <c:pt idx="56">
                  <c:v>700</c:v>
                </c:pt>
                <c:pt idx="57">
                  <c:v>640</c:v>
                </c:pt>
                <c:pt idx="58">
                  <c:v>440</c:v>
                </c:pt>
                <c:pt idx="59">
                  <c:v>440</c:v>
                </c:pt>
                <c:pt idx="60">
                  <c:v>400</c:v>
                </c:pt>
                <c:pt idx="61">
                  <c:v>440</c:v>
                </c:pt>
                <c:pt idx="62">
                  <c:v>350</c:v>
                </c:pt>
                <c:pt idx="63">
                  <c:v>400</c:v>
                </c:pt>
                <c:pt idx="64">
                  <c:v>450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28"/>
            <c:marker>
              <c:symbol val="none"/>
            </c:marker>
            <c:bubble3D val="0"/>
          </c:dPt>
          <c:cat>
            <c:numRef>
              <c:f>Sheet1!$A$2:$A$66</c:f>
              <c:numCache>
                <c:formatCode>m/d/yyyy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43217</c:v>
                </c:pt>
                <c:pt idx="32">
                  <c:v>43224</c:v>
                </c:pt>
                <c:pt idx="33">
                  <c:v>43231</c:v>
                </c:pt>
                <c:pt idx="34">
                  <c:v>43238</c:v>
                </c:pt>
                <c:pt idx="35">
                  <c:v>43245</c:v>
                </c:pt>
                <c:pt idx="36">
                  <c:v>43252</c:v>
                </c:pt>
                <c:pt idx="37">
                  <c:v>43259</c:v>
                </c:pt>
                <c:pt idx="38">
                  <c:v>43266</c:v>
                </c:pt>
                <c:pt idx="39">
                  <c:v>43273</c:v>
                </c:pt>
                <c:pt idx="40">
                  <c:v>43280</c:v>
                </c:pt>
                <c:pt idx="41">
                  <c:v>43287</c:v>
                </c:pt>
                <c:pt idx="42">
                  <c:v>43294</c:v>
                </c:pt>
                <c:pt idx="43">
                  <c:v>43301</c:v>
                </c:pt>
                <c:pt idx="44">
                  <c:v>43308</c:v>
                </c:pt>
                <c:pt idx="45">
                  <c:v>43315</c:v>
                </c:pt>
                <c:pt idx="46">
                  <c:v>43322</c:v>
                </c:pt>
                <c:pt idx="47">
                  <c:v>43329</c:v>
                </c:pt>
                <c:pt idx="48">
                  <c:v>43336</c:v>
                </c:pt>
                <c:pt idx="49">
                  <c:v>43343</c:v>
                </c:pt>
                <c:pt idx="50">
                  <c:v>43350</c:v>
                </c:pt>
                <c:pt idx="51">
                  <c:v>43357</c:v>
                </c:pt>
                <c:pt idx="52">
                  <c:v>43364</c:v>
                </c:pt>
                <c:pt idx="53">
                  <c:v>43371</c:v>
                </c:pt>
                <c:pt idx="54">
                  <c:v>43378</c:v>
                </c:pt>
                <c:pt idx="55">
                  <c:v>43385</c:v>
                </c:pt>
                <c:pt idx="56">
                  <c:v>43392</c:v>
                </c:pt>
                <c:pt idx="57">
                  <c:v>43399</c:v>
                </c:pt>
                <c:pt idx="58">
                  <c:v>43406</c:v>
                </c:pt>
                <c:pt idx="59">
                  <c:v>43413</c:v>
                </c:pt>
                <c:pt idx="60">
                  <c:v>43420</c:v>
                </c:pt>
                <c:pt idx="61">
                  <c:v>43427</c:v>
                </c:pt>
                <c:pt idx="62">
                  <c:v>43434</c:v>
                </c:pt>
                <c:pt idx="63">
                  <c:v>43441</c:v>
                </c:pt>
                <c:pt idx="64">
                  <c:v>43448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750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/>
                </a:solidFill>
                <a:latin typeface="Pluto Sans Cond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8589108992372763"/>
          <c:y val="2.842105585901885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luto Sans Cond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1/14/2019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846830"/>
              </p:ext>
            </p:extLst>
          </p:nvPr>
        </p:nvGraphicFramePr>
        <p:xfrm>
          <a:off x="8967968" y="3473100"/>
          <a:ext cx="9113390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rmAutofit/>
          </a:bodyPr>
          <a:lstStyle/>
          <a:p>
            <a:r>
              <a:rPr lang="en-US" sz="5400"/>
              <a:t>Liquid Laundry Detergents case study</a:t>
            </a:r>
            <a:endParaRPr lang="en-US" sz="54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8" y="3879240"/>
            <a:ext cx="2926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chemeClr val="accent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Cond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Cond Regular" panose="02000000000000000000" pitchFamily="50" charset="0"/>
              </a:rPr>
              <a:t>Freeosk</a:t>
            </a:r>
            <a:r>
              <a:rPr lang="en-US" sz="2800" dirty="0">
                <a:latin typeface="Pluto Sans Cond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luto Sans Cond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191884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3600" kern="1200">
                          <a:solidFill>
                            <a:schemeClr val="tx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4,257</a:t>
                      </a:r>
                      <a:endParaRPr lang="en-US" sz="3600" kern="1200" dirty="0">
                        <a:solidFill>
                          <a:schemeClr val="tx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800">
                          <a:solidFill>
                            <a:schemeClr val="accent1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43%</a:t>
                      </a:r>
                      <a:endParaRPr lang="en-US" sz="4800" dirty="0">
                        <a:solidFill>
                          <a:schemeClr val="accent1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>
                          <a:solidFill>
                            <a:schemeClr val="accent4"/>
                          </a:solidFill>
                          <a:latin typeface="Pluto Sans Bold" panose="02000000000000000000" pitchFamily="50" charset="0"/>
                          <a:cs typeface="PT Sans Caption"/>
                        </a:rPr>
                        <a:t>31%</a:t>
                      </a:r>
                      <a:endParaRPr lang="en-US" sz="4800" dirty="0">
                        <a:solidFill>
                          <a:schemeClr val="accent4"/>
                        </a:solidFill>
                        <a:latin typeface="Pluto Sans Bold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800" b="1" kern="1200">
                          <a:solidFill>
                            <a:schemeClr val="accent2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26%</a:t>
                      </a:r>
                      <a:endParaRPr lang="en-US" sz="4800" b="1" kern="1200" dirty="0">
                        <a:solidFill>
                          <a:schemeClr val="accent2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400" baseline="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400" dirty="0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4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solidFill>
                            <a:schemeClr val="accent2"/>
                          </a:solidFill>
                          <a:latin typeface="Pluto Sans Cond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PT Sans Caption"/>
                        </a:rPr>
                        <a:t>(A + B): 74%</a:t>
                      </a: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375230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Cond Regular" panose="02000000000000000000" pitchFamily="50" charset="0"/>
              </a:rPr>
              <a:t>150 clubs</a:t>
            </a:r>
          </a:p>
          <a:p>
            <a:r>
              <a:rPr lang="en-US" sz="2800">
                <a:latin typeface="Pluto Sans Cond Regular" panose="02000000000000000000" pitchFamily="50" charset="0"/>
              </a:rPr>
              <a:t>Primary Item (Sample)</a:t>
            </a:r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881004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Category: Laundry And Home Care </a:t>
            </a:r>
          </a:p>
          <a:p>
            <a:r>
              <a:rPr lang="en-US" sz="3200">
                <a:solidFill>
                  <a:schemeClr val="tx2"/>
                </a:solidFill>
                <a:latin typeface="Pluto Sans Cond Regular" panose="02000000000000000000" pitchFamily="50" charset="0"/>
              </a:rPr>
              <a:t>Sub-Category: Liquid Laundry Detergents</a:t>
            </a:r>
            <a:endParaRPr lang="en-US" sz="3200" dirty="0">
              <a:solidFill>
                <a:schemeClr val="tx2"/>
              </a:solidFill>
              <a:latin typeface="Pluto Sans Cond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361448"/>
              </p:ext>
            </p:extLst>
          </p:nvPr>
        </p:nvGraphicFramePr>
        <p:xfrm>
          <a:off x="1290570" y="7874489"/>
          <a:ext cx="7170435" cy="35524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7122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252984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745219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455110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789428">
                <a:tc gridSpan="4">
                  <a:txBody>
                    <a:bodyPr/>
                    <a:lstStyle/>
                    <a:p>
                      <a:r>
                        <a:rPr lang="en-US" sz="2800" b="1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1.8M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162K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0" kern="1200" dirty="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8.8%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endParaRPr lang="en-US" sz="2800" b="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2.7%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55260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Cond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/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kern="1200">
                          <a:solidFill>
                            <a:schemeClr val="tx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17.5%</a:t>
                      </a:r>
                      <a:endParaRPr lang="en-US" sz="28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1153646" y="412704"/>
            <a:ext cx="2399054" cy="461665"/>
          </a:xfrm>
          <a:prstGeom prst="rect">
            <a:avLst/>
          </a:prstGeom>
          <a:noFill/>
        </p:spPr>
        <p:txBody>
          <a:bodyPr wrap="none" rIns="0" rtlCol="0">
            <a:spAutoFit/>
          </a:bodyPr>
          <a:lstStyle/>
          <a:p>
            <a:pPr algn="r"/>
            <a:r>
              <a:rPr lang="en-US" sz="2400">
                <a:latin typeface="Pluto Bold" panose="020B0803020203060204" pitchFamily="34" charset="0"/>
              </a:rPr>
              <a:t>12 weeks post</a:t>
            </a:r>
            <a:endParaRPr lang="en-US" sz="2400" dirty="0">
              <a:latin typeface="Pluto Bold" panose="020B0803020203060204" pitchFamily="34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Cond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497566"/>
              </p:ext>
            </p:extLst>
          </p:nvPr>
        </p:nvGraphicFramePr>
        <p:xfrm>
          <a:off x="18353335" y="3524059"/>
          <a:ext cx="463666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833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318330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226307">
                <a:tc>
                  <a:txBody>
                    <a:bodyPr/>
                    <a:lstStyle/>
                    <a:p>
                      <a:r>
                        <a:rPr lang="en-US" sz="3600" b="1" kern="1200" dirty="0" err="1">
                          <a:solidFill>
                            <a:schemeClr val="accent1"/>
                          </a:solidFill>
                          <a:latin typeface="Pluto Sans Cond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3600" b="1" kern="1200" dirty="0">
                        <a:solidFill>
                          <a:schemeClr val="accent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kern="1200">
                          <a:solidFill>
                            <a:schemeClr val="accent1"/>
                          </a:solidFill>
                          <a:latin typeface="Pluto Bold" panose="020B0803020203060204" pitchFamily="34" charset="0"/>
                          <a:ea typeface="+mn-ea"/>
                          <a:cs typeface="PT Sans Caption"/>
                        </a:rPr>
                        <a:t>25%</a:t>
                      </a:r>
                      <a:endParaRPr lang="en-US" sz="4000" kern="1200" dirty="0">
                        <a:solidFill>
                          <a:schemeClr val="accent1"/>
                        </a:solidFill>
                        <a:latin typeface="Pluto Bold" panose="020B0803020203060204" pitchFamily="34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Cond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Cond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kern="1200">
                          <a:solidFill>
                            <a:schemeClr val="dk1"/>
                          </a:solidFill>
                          <a:latin typeface="Pluto Bold" panose="020B0803020203060204" pitchFamily="34" charset="0"/>
                          <a:ea typeface="+mn-ea"/>
                          <a:cs typeface="+mn-cs"/>
                        </a:rPr>
                        <a:t>28%</a:t>
                      </a:r>
                      <a:endParaRPr lang="en-US" sz="2800" kern="1200" dirty="0">
                        <a:solidFill>
                          <a:schemeClr val="dk1"/>
                        </a:solidFill>
                        <a:latin typeface="Pluto Bold" panose="020B0803020203060204" pitchFamily="34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866</TotalTime>
  <Words>137</Words>
  <Application>Microsoft Office PowerPoint</Application>
  <PresentationFormat>Custom</PresentationFormat>
  <Paragraphs>40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Pluto Bold</vt:lpstr>
      <vt:lpstr>Pluto Sans</vt:lpstr>
      <vt:lpstr>Pluto Sans Bold</vt:lpstr>
      <vt:lpstr>Pluto Sans Cond Regular</vt:lpstr>
      <vt:lpstr>PT Sans Caption</vt:lpstr>
      <vt:lpstr>Office Theme</vt:lpstr>
      <vt:lpstr>Liquid Laundry Detergents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Laine Klopfenstein</cp:lastModifiedBy>
  <cp:revision>232</cp:revision>
  <dcterms:created xsi:type="dcterms:W3CDTF">2018-12-12T20:08:26Z</dcterms:created>
  <dcterms:modified xsi:type="dcterms:W3CDTF">2019-01-14T19:08:50Z</dcterms:modified>
</cp:coreProperties>
</file>