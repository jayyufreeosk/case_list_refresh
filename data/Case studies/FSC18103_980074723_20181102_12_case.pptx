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733" r:id="rId1"/>
  </p:sldMasterIdLst>
  <p:notesMasterIdLst>
    <p:notesMasterId r:id="rId3"/>
  </p:notesMasterIdLst>
  <p:handoutMasterIdLst>
    <p:handoutMasterId r:id="rId4"/>
  </p:handoutMasterIdLst>
  <p:sldIdLst>
    <p:sldId id="311" r:id="rId2"/>
  </p:sldIdLst>
  <p:sldSz cx="24387175" cy="13716000"/>
  <p:notesSz cx="6858000" cy="9144000"/>
  <p:defaultTextStyle>
    <a:defPPr>
      <a:defRPr lang="en-US"/>
    </a:defPPr>
    <a:lvl1pPr marL="0" algn="l" defTabSz="1828891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1pPr>
    <a:lvl2pPr marL="914446" algn="l" defTabSz="1828891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2pPr>
    <a:lvl3pPr marL="1828891" algn="l" defTabSz="1828891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3pPr>
    <a:lvl4pPr marL="2743337" algn="l" defTabSz="1828891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4pPr>
    <a:lvl5pPr marL="3657783" algn="l" defTabSz="1828891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5pPr>
    <a:lvl6pPr marL="4572229" algn="l" defTabSz="1828891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6pPr>
    <a:lvl7pPr marL="5486674" algn="l" defTabSz="1828891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7pPr>
    <a:lvl8pPr marL="6401120" algn="l" defTabSz="1828891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8pPr>
    <a:lvl9pPr marL="7315566" algn="l" defTabSz="1828891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4320" userDrawn="1">
          <p15:clr>
            <a:srgbClr val="A4A3A4"/>
          </p15:clr>
        </p15:guide>
        <p15:guide id="2" pos="7681" userDrawn="1">
          <p15:clr>
            <a:srgbClr val="A4A3A4"/>
          </p15:clr>
        </p15:guide>
        <p15:guide id="3" orient="horz" pos="1176" userDrawn="1">
          <p15:clr>
            <a:srgbClr val="A4A3A4"/>
          </p15:clr>
        </p15:guide>
        <p15:guide id="4" orient="horz" pos="1536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99899"/>
    <a:srgbClr val="FFFFFF"/>
    <a:srgbClr val="63666A"/>
    <a:srgbClr val="4EC3E0"/>
    <a:srgbClr val="C8C9C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8512"/>
    <p:restoredTop sz="94650"/>
  </p:normalViewPr>
  <p:slideViewPr>
    <p:cSldViewPr snapToGrid="0" snapToObjects="1">
      <p:cViewPr varScale="1">
        <p:scale>
          <a:sx n="34" d="100"/>
          <a:sy n="34" d="100"/>
        </p:scale>
        <p:origin x="1116" y="84"/>
      </p:cViewPr>
      <p:guideLst>
        <p:guide orient="horz" pos="4320"/>
        <p:guide pos="7681"/>
        <p:guide orient="horz" pos="1176"/>
        <p:guide orient="horz" pos="1536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 snapToGrid="0" snapToObjects="1">
      <p:cViewPr varScale="1">
        <p:scale>
          <a:sx n="137" d="100"/>
          <a:sy n="137" d="100"/>
        </p:scale>
        <p:origin x="3536" y="208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notesMaster" Target="notesMasters/notesMaster1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handoutMaster" Target="handoutMasters/handoutMaster1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10176420828720369"/>
          <c:y val="0.13760733124857283"/>
          <c:w val="0.79178338327435827"/>
          <c:h val="0.71095230178771562"/>
        </c:manualLayout>
      </c:layout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 Freeosk sales </c:v>
                </c:pt>
              </c:strCache>
            </c:strRef>
          </c:tx>
          <c:spPr>
            <a:ln w="63500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cat>
            <c:numRef>
              <c:f>Sheet1!$A$2:$A$66</c:f>
              <c:numCache>
                <c:formatCode>m/d/yyyy</c:formatCode>
                <c:ptCount val="65"/>
                <c:pt idx="0">
                  <c:v>43021</c:v>
                </c:pt>
                <c:pt idx="1">
                  <c:v>43028</c:v>
                </c:pt>
                <c:pt idx="2">
                  <c:v>43035</c:v>
                </c:pt>
                <c:pt idx="3">
                  <c:v>43042</c:v>
                </c:pt>
                <c:pt idx="4">
                  <c:v>43049</c:v>
                </c:pt>
                <c:pt idx="5">
                  <c:v>43056</c:v>
                </c:pt>
                <c:pt idx="6">
                  <c:v>43063</c:v>
                </c:pt>
                <c:pt idx="7">
                  <c:v>43070</c:v>
                </c:pt>
                <c:pt idx="8">
                  <c:v>43077</c:v>
                </c:pt>
                <c:pt idx="9">
                  <c:v>43084</c:v>
                </c:pt>
                <c:pt idx="10">
                  <c:v>43091</c:v>
                </c:pt>
                <c:pt idx="11">
                  <c:v>43098</c:v>
                </c:pt>
                <c:pt idx="12">
                  <c:v>43105</c:v>
                </c:pt>
                <c:pt idx="13">
                  <c:v>43112</c:v>
                </c:pt>
                <c:pt idx="14">
                  <c:v>43119</c:v>
                </c:pt>
                <c:pt idx="15">
                  <c:v>43126</c:v>
                </c:pt>
                <c:pt idx="16">
                  <c:v>43133</c:v>
                </c:pt>
                <c:pt idx="17">
                  <c:v>43140</c:v>
                </c:pt>
                <c:pt idx="18">
                  <c:v>43147</c:v>
                </c:pt>
                <c:pt idx="19">
                  <c:v>43154</c:v>
                </c:pt>
                <c:pt idx="20">
                  <c:v>43161</c:v>
                </c:pt>
                <c:pt idx="21">
                  <c:v>43168</c:v>
                </c:pt>
                <c:pt idx="22">
                  <c:v>43175</c:v>
                </c:pt>
                <c:pt idx="23">
                  <c:v>43182</c:v>
                </c:pt>
                <c:pt idx="24">
                  <c:v>43189</c:v>
                </c:pt>
                <c:pt idx="25">
                  <c:v>43196</c:v>
                </c:pt>
                <c:pt idx="26">
                  <c:v>43203</c:v>
                </c:pt>
                <c:pt idx="27">
                  <c:v>43210</c:v>
                </c:pt>
                <c:pt idx="28">
                  <c:v>43217</c:v>
                </c:pt>
                <c:pt idx="29">
                  <c:v>43224</c:v>
                </c:pt>
                <c:pt idx="30">
                  <c:v>43231</c:v>
                </c:pt>
                <c:pt idx="31">
                  <c:v>43238</c:v>
                </c:pt>
                <c:pt idx="32">
                  <c:v>43245</c:v>
                </c:pt>
                <c:pt idx="33">
                  <c:v>43252</c:v>
                </c:pt>
                <c:pt idx="34">
                  <c:v>43259</c:v>
                </c:pt>
                <c:pt idx="35">
                  <c:v>43266</c:v>
                </c:pt>
                <c:pt idx="36">
                  <c:v>43273</c:v>
                </c:pt>
                <c:pt idx="37">
                  <c:v>43280</c:v>
                </c:pt>
                <c:pt idx="38">
                  <c:v>43287</c:v>
                </c:pt>
                <c:pt idx="39">
                  <c:v>43294</c:v>
                </c:pt>
                <c:pt idx="40">
                  <c:v>43301</c:v>
                </c:pt>
                <c:pt idx="41">
                  <c:v>43308</c:v>
                </c:pt>
                <c:pt idx="42">
                  <c:v>43315</c:v>
                </c:pt>
                <c:pt idx="43">
                  <c:v>43322</c:v>
                </c:pt>
                <c:pt idx="44">
                  <c:v>43329</c:v>
                </c:pt>
                <c:pt idx="45">
                  <c:v>43336</c:v>
                </c:pt>
                <c:pt idx="46">
                  <c:v>43343</c:v>
                </c:pt>
                <c:pt idx="47">
                  <c:v>43350</c:v>
                </c:pt>
                <c:pt idx="48">
                  <c:v>43357</c:v>
                </c:pt>
                <c:pt idx="49">
                  <c:v>43364</c:v>
                </c:pt>
                <c:pt idx="50">
                  <c:v>43371</c:v>
                </c:pt>
                <c:pt idx="51">
                  <c:v>43378</c:v>
                </c:pt>
                <c:pt idx="52">
                  <c:v>43385</c:v>
                </c:pt>
                <c:pt idx="53">
                  <c:v>43392</c:v>
                </c:pt>
                <c:pt idx="54">
                  <c:v>43399</c:v>
                </c:pt>
                <c:pt idx="55">
                  <c:v>43406</c:v>
                </c:pt>
                <c:pt idx="56">
                  <c:v>43413</c:v>
                </c:pt>
                <c:pt idx="57">
                  <c:v>43420</c:v>
                </c:pt>
                <c:pt idx="58">
                  <c:v>43427</c:v>
                </c:pt>
                <c:pt idx="59">
                  <c:v>43434</c:v>
                </c:pt>
                <c:pt idx="60">
                  <c:v>43441</c:v>
                </c:pt>
                <c:pt idx="61">
                  <c:v>43448</c:v>
                </c:pt>
                <c:pt idx="62">
                  <c:v>43455</c:v>
                </c:pt>
                <c:pt idx="63">
                  <c:v>43462</c:v>
                </c:pt>
                <c:pt idx="64">
                  <c:v>43469</c:v>
                </c:pt>
              </c:numCache>
            </c:numRef>
          </c:cat>
          <c:val>
            <c:numRef>
              <c:f>Sheet1!$B$2:$B$66</c:f>
              <c:numCache>
                <c:formatCode>_(* #,##0.00_);_(* \(#,##0.00\);_(* "-"??_);_(@_)</c:formatCode>
                <c:ptCount val="65"/>
                <c:pt idx="0">
                  <c:v>200</c:v>
                </c:pt>
                <c:pt idx="1">
                  <c:v>250</c:v>
                </c:pt>
                <c:pt idx="2">
                  <c:v>210</c:v>
                </c:pt>
                <c:pt idx="3">
                  <c:v>220</c:v>
                </c:pt>
                <c:pt idx="4">
                  <c:v>350</c:v>
                </c:pt>
                <c:pt idx="5">
                  <c:v>360</c:v>
                </c:pt>
                <c:pt idx="6">
                  <c:v>330</c:v>
                </c:pt>
                <c:pt idx="7">
                  <c:v>150</c:v>
                </c:pt>
                <c:pt idx="8">
                  <c:v>160</c:v>
                </c:pt>
                <c:pt idx="9">
                  <c:v>260</c:v>
                </c:pt>
                <c:pt idx="10">
                  <c:v>260</c:v>
                </c:pt>
                <c:pt idx="11">
                  <c:v>270</c:v>
                </c:pt>
                <c:pt idx="12">
                  <c:v>330</c:v>
                </c:pt>
                <c:pt idx="13">
                  <c:v>420</c:v>
                </c:pt>
                <c:pt idx="14">
                  <c:v>460</c:v>
                </c:pt>
                <c:pt idx="15">
                  <c:v>410</c:v>
                </c:pt>
                <c:pt idx="16">
                  <c:v>490</c:v>
                </c:pt>
                <c:pt idx="17">
                  <c:v>510</c:v>
                </c:pt>
                <c:pt idx="18">
                  <c:v>560</c:v>
                </c:pt>
                <c:pt idx="19">
                  <c:v>540</c:v>
                </c:pt>
                <c:pt idx="20">
                  <c:v>530</c:v>
                </c:pt>
                <c:pt idx="21">
                  <c:v>440</c:v>
                </c:pt>
                <c:pt idx="22">
                  <c:v>470</c:v>
                </c:pt>
                <c:pt idx="23">
                  <c:v>480</c:v>
                </c:pt>
                <c:pt idx="24">
                  <c:v>460</c:v>
                </c:pt>
                <c:pt idx="25">
                  <c:v>480</c:v>
                </c:pt>
                <c:pt idx="26">
                  <c:v>490</c:v>
                </c:pt>
                <c:pt idx="27">
                  <c:v>340</c:v>
                </c:pt>
                <c:pt idx="28">
                  <c:v>340</c:v>
                </c:pt>
                <c:pt idx="29">
                  <c:v>280</c:v>
                </c:pt>
                <c:pt idx="30">
                  <c:v>430</c:v>
                </c:pt>
                <c:pt idx="31">
                  <c:v>490</c:v>
                </c:pt>
                <c:pt idx="32">
                  <c:v>460</c:v>
                </c:pt>
                <c:pt idx="33">
                  <c:v>400</c:v>
                </c:pt>
                <c:pt idx="34">
                  <c:v>420</c:v>
                </c:pt>
                <c:pt idx="35">
                  <c:v>560</c:v>
                </c:pt>
                <c:pt idx="36">
                  <c:v>560</c:v>
                </c:pt>
                <c:pt idx="37">
                  <c:v>540</c:v>
                </c:pt>
                <c:pt idx="38">
                  <c:v>600</c:v>
                </c:pt>
                <c:pt idx="39">
                  <c:v>730</c:v>
                </c:pt>
                <c:pt idx="40">
                  <c:v>620</c:v>
                </c:pt>
                <c:pt idx="41">
                  <c:v>570</c:v>
                </c:pt>
                <c:pt idx="42">
                  <c:v>380</c:v>
                </c:pt>
                <c:pt idx="43">
                  <c:v>420</c:v>
                </c:pt>
                <c:pt idx="44">
                  <c:v>410</c:v>
                </c:pt>
                <c:pt idx="45">
                  <c:v>450</c:v>
                </c:pt>
                <c:pt idx="46">
                  <c:v>480</c:v>
                </c:pt>
                <c:pt idx="47">
                  <c:v>580</c:v>
                </c:pt>
                <c:pt idx="48">
                  <c:v>540</c:v>
                </c:pt>
                <c:pt idx="49">
                  <c:v>540</c:v>
                </c:pt>
                <c:pt idx="50">
                  <c:v>520</c:v>
                </c:pt>
                <c:pt idx="51">
                  <c:v>560</c:v>
                </c:pt>
                <c:pt idx="52">
                  <c:v>490</c:v>
                </c:pt>
                <c:pt idx="53">
                  <c:v>460</c:v>
                </c:pt>
                <c:pt idx="54">
                  <c:v>280</c:v>
                </c:pt>
                <c:pt idx="55">
                  <c:v>290</c:v>
                </c:pt>
                <c:pt idx="56">
                  <c:v>420</c:v>
                </c:pt>
                <c:pt idx="57">
                  <c:v>410</c:v>
                </c:pt>
                <c:pt idx="58">
                  <c:v>430</c:v>
                </c:pt>
                <c:pt idx="59">
                  <c:v>230</c:v>
                </c:pt>
                <c:pt idx="60">
                  <c:v>220</c:v>
                </c:pt>
                <c:pt idx="61">
                  <c:v>590</c:v>
                </c:pt>
                <c:pt idx="62">
                  <c:v>570</c:v>
                </c:pt>
                <c:pt idx="63">
                  <c:v>420</c:v>
                </c:pt>
                <c:pt idx="64">
                  <c:v>450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B81D-4639-88D6-2C82394D4EF0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 Control sales </c:v>
                </c:pt>
              </c:strCache>
            </c:strRef>
          </c:tx>
          <c:spPr>
            <a:ln w="12700" cap="rnd">
              <a:solidFill>
                <a:schemeClr val="tx1"/>
              </a:solidFill>
              <a:round/>
            </a:ln>
            <a:effectLst/>
          </c:spPr>
          <c:marker>
            <c:symbol val="none"/>
          </c:marker>
          <c:cat>
            <c:numRef>
              <c:f>Sheet1!$A$2:$A$66</c:f>
              <c:numCache>
                <c:formatCode>m/d/yyyy</c:formatCode>
                <c:ptCount val="65"/>
                <c:pt idx="0">
                  <c:v>43021</c:v>
                </c:pt>
                <c:pt idx="1">
                  <c:v>43028</c:v>
                </c:pt>
                <c:pt idx="2">
                  <c:v>43035</c:v>
                </c:pt>
                <c:pt idx="3">
                  <c:v>43042</c:v>
                </c:pt>
                <c:pt idx="4">
                  <c:v>43049</c:v>
                </c:pt>
                <c:pt idx="5">
                  <c:v>43056</c:v>
                </c:pt>
                <c:pt idx="6">
                  <c:v>43063</c:v>
                </c:pt>
                <c:pt idx="7">
                  <c:v>43070</c:v>
                </c:pt>
                <c:pt idx="8">
                  <c:v>43077</c:v>
                </c:pt>
                <c:pt idx="9">
                  <c:v>43084</c:v>
                </c:pt>
                <c:pt idx="10">
                  <c:v>43091</c:v>
                </c:pt>
                <c:pt idx="11">
                  <c:v>43098</c:v>
                </c:pt>
                <c:pt idx="12">
                  <c:v>43105</c:v>
                </c:pt>
                <c:pt idx="13">
                  <c:v>43112</c:v>
                </c:pt>
                <c:pt idx="14">
                  <c:v>43119</c:v>
                </c:pt>
                <c:pt idx="15">
                  <c:v>43126</c:v>
                </c:pt>
                <c:pt idx="16">
                  <c:v>43133</c:v>
                </c:pt>
                <c:pt idx="17">
                  <c:v>43140</c:v>
                </c:pt>
                <c:pt idx="18">
                  <c:v>43147</c:v>
                </c:pt>
                <c:pt idx="19">
                  <c:v>43154</c:v>
                </c:pt>
                <c:pt idx="20">
                  <c:v>43161</c:v>
                </c:pt>
                <c:pt idx="21">
                  <c:v>43168</c:v>
                </c:pt>
                <c:pt idx="22">
                  <c:v>43175</c:v>
                </c:pt>
                <c:pt idx="23">
                  <c:v>43182</c:v>
                </c:pt>
                <c:pt idx="24">
                  <c:v>43189</c:v>
                </c:pt>
                <c:pt idx="25">
                  <c:v>43196</c:v>
                </c:pt>
                <c:pt idx="26">
                  <c:v>43203</c:v>
                </c:pt>
                <c:pt idx="27">
                  <c:v>43210</c:v>
                </c:pt>
                <c:pt idx="28">
                  <c:v>43217</c:v>
                </c:pt>
                <c:pt idx="29">
                  <c:v>43224</c:v>
                </c:pt>
                <c:pt idx="30">
                  <c:v>43231</c:v>
                </c:pt>
                <c:pt idx="31">
                  <c:v>43238</c:v>
                </c:pt>
                <c:pt idx="32">
                  <c:v>43245</c:v>
                </c:pt>
                <c:pt idx="33">
                  <c:v>43252</c:v>
                </c:pt>
                <c:pt idx="34">
                  <c:v>43259</c:v>
                </c:pt>
                <c:pt idx="35">
                  <c:v>43266</c:v>
                </c:pt>
                <c:pt idx="36">
                  <c:v>43273</c:v>
                </c:pt>
                <c:pt idx="37">
                  <c:v>43280</c:v>
                </c:pt>
                <c:pt idx="38">
                  <c:v>43287</c:v>
                </c:pt>
                <c:pt idx="39">
                  <c:v>43294</c:v>
                </c:pt>
                <c:pt idx="40">
                  <c:v>43301</c:v>
                </c:pt>
                <c:pt idx="41">
                  <c:v>43308</c:v>
                </c:pt>
                <c:pt idx="42">
                  <c:v>43315</c:v>
                </c:pt>
                <c:pt idx="43">
                  <c:v>43322</c:v>
                </c:pt>
                <c:pt idx="44">
                  <c:v>43329</c:v>
                </c:pt>
                <c:pt idx="45">
                  <c:v>43336</c:v>
                </c:pt>
                <c:pt idx="46">
                  <c:v>43343</c:v>
                </c:pt>
                <c:pt idx="47">
                  <c:v>43350</c:v>
                </c:pt>
                <c:pt idx="48">
                  <c:v>43357</c:v>
                </c:pt>
                <c:pt idx="49">
                  <c:v>43364</c:v>
                </c:pt>
                <c:pt idx="50">
                  <c:v>43371</c:v>
                </c:pt>
                <c:pt idx="51">
                  <c:v>43378</c:v>
                </c:pt>
                <c:pt idx="52">
                  <c:v>43385</c:v>
                </c:pt>
                <c:pt idx="53">
                  <c:v>43392</c:v>
                </c:pt>
                <c:pt idx="54">
                  <c:v>43399</c:v>
                </c:pt>
                <c:pt idx="55">
                  <c:v>43406</c:v>
                </c:pt>
                <c:pt idx="56">
                  <c:v>43413</c:v>
                </c:pt>
                <c:pt idx="57">
                  <c:v>43420</c:v>
                </c:pt>
                <c:pt idx="58">
                  <c:v>43427</c:v>
                </c:pt>
                <c:pt idx="59">
                  <c:v>43434</c:v>
                </c:pt>
                <c:pt idx="60">
                  <c:v>43441</c:v>
                </c:pt>
                <c:pt idx="61">
                  <c:v>43448</c:v>
                </c:pt>
                <c:pt idx="62">
                  <c:v>43455</c:v>
                </c:pt>
                <c:pt idx="63">
                  <c:v>43462</c:v>
                </c:pt>
                <c:pt idx="64">
                  <c:v>43469</c:v>
                </c:pt>
              </c:numCache>
            </c:numRef>
          </c:cat>
          <c:val>
            <c:numRef>
              <c:f>Sheet1!$C$2:$C$66</c:f>
              <c:numCache>
                <c:formatCode>_(* #,##0.00_);_(* \(#,##0.00\);_(* "-"??_);_(@_)</c:formatCode>
                <c:ptCount val="65"/>
                <c:pt idx="0">
                  <c:v>220</c:v>
                </c:pt>
                <c:pt idx="1">
                  <c:v>250</c:v>
                </c:pt>
                <c:pt idx="2">
                  <c:v>210</c:v>
                </c:pt>
                <c:pt idx="3">
                  <c:v>230</c:v>
                </c:pt>
                <c:pt idx="4">
                  <c:v>360</c:v>
                </c:pt>
                <c:pt idx="5">
                  <c:v>360</c:v>
                </c:pt>
                <c:pt idx="6">
                  <c:v>320</c:v>
                </c:pt>
                <c:pt idx="7">
                  <c:v>150</c:v>
                </c:pt>
                <c:pt idx="8">
                  <c:v>140</c:v>
                </c:pt>
                <c:pt idx="9">
                  <c:v>240</c:v>
                </c:pt>
                <c:pt idx="10">
                  <c:v>240</c:v>
                </c:pt>
                <c:pt idx="11">
                  <c:v>240</c:v>
                </c:pt>
                <c:pt idx="12">
                  <c:v>330</c:v>
                </c:pt>
                <c:pt idx="13">
                  <c:v>460</c:v>
                </c:pt>
                <c:pt idx="14">
                  <c:v>440</c:v>
                </c:pt>
                <c:pt idx="15">
                  <c:v>400</c:v>
                </c:pt>
                <c:pt idx="16">
                  <c:v>470</c:v>
                </c:pt>
                <c:pt idx="17">
                  <c:v>500</c:v>
                </c:pt>
                <c:pt idx="18">
                  <c:v>550</c:v>
                </c:pt>
                <c:pt idx="19">
                  <c:v>520</c:v>
                </c:pt>
                <c:pt idx="20">
                  <c:v>510</c:v>
                </c:pt>
                <c:pt idx="21">
                  <c:v>440</c:v>
                </c:pt>
                <c:pt idx="22">
                  <c:v>500</c:v>
                </c:pt>
                <c:pt idx="23">
                  <c:v>460</c:v>
                </c:pt>
                <c:pt idx="24">
                  <c:v>470</c:v>
                </c:pt>
                <c:pt idx="25">
                  <c:v>480</c:v>
                </c:pt>
                <c:pt idx="26">
                  <c:v>500</c:v>
                </c:pt>
                <c:pt idx="27">
                  <c:v>340</c:v>
                </c:pt>
                <c:pt idx="28">
                  <c:v>330</c:v>
                </c:pt>
                <c:pt idx="29">
                  <c:v>290</c:v>
                </c:pt>
                <c:pt idx="30">
                  <c:v>460</c:v>
                </c:pt>
                <c:pt idx="31">
                  <c:v>500</c:v>
                </c:pt>
                <c:pt idx="32">
                  <c:v>440</c:v>
                </c:pt>
                <c:pt idx="33">
                  <c:v>400</c:v>
                </c:pt>
                <c:pt idx="34">
                  <c:v>420</c:v>
                </c:pt>
                <c:pt idx="35">
                  <c:v>520</c:v>
                </c:pt>
                <c:pt idx="36">
                  <c:v>530</c:v>
                </c:pt>
                <c:pt idx="37">
                  <c:v>510</c:v>
                </c:pt>
                <c:pt idx="38">
                  <c:v>540</c:v>
                </c:pt>
                <c:pt idx="39">
                  <c:v>660</c:v>
                </c:pt>
                <c:pt idx="40">
                  <c:v>550</c:v>
                </c:pt>
                <c:pt idx="41">
                  <c:v>510</c:v>
                </c:pt>
                <c:pt idx="42">
                  <c:v>350</c:v>
                </c:pt>
                <c:pt idx="43">
                  <c:v>390</c:v>
                </c:pt>
                <c:pt idx="44">
                  <c:v>380</c:v>
                </c:pt>
                <c:pt idx="45">
                  <c:v>400</c:v>
                </c:pt>
                <c:pt idx="46">
                  <c:v>420</c:v>
                </c:pt>
                <c:pt idx="47">
                  <c:v>480</c:v>
                </c:pt>
                <c:pt idx="48">
                  <c:v>500</c:v>
                </c:pt>
                <c:pt idx="49">
                  <c:v>510</c:v>
                </c:pt>
                <c:pt idx="50">
                  <c:v>500</c:v>
                </c:pt>
                <c:pt idx="51">
                  <c:v>550</c:v>
                </c:pt>
                <c:pt idx="52">
                  <c:v>550</c:v>
                </c:pt>
                <c:pt idx="53">
                  <c:v>340</c:v>
                </c:pt>
                <c:pt idx="54">
                  <c:v>260</c:v>
                </c:pt>
                <c:pt idx="55">
                  <c:v>270</c:v>
                </c:pt>
                <c:pt idx="56">
                  <c:v>390</c:v>
                </c:pt>
                <c:pt idx="57">
                  <c:v>400</c:v>
                </c:pt>
                <c:pt idx="58">
                  <c:v>410</c:v>
                </c:pt>
                <c:pt idx="59">
                  <c:v>220</c:v>
                </c:pt>
                <c:pt idx="60">
                  <c:v>210</c:v>
                </c:pt>
                <c:pt idx="61">
                  <c:v>550</c:v>
                </c:pt>
                <c:pt idx="62">
                  <c:v>570</c:v>
                </c:pt>
                <c:pt idx="63">
                  <c:v>400</c:v>
                </c:pt>
                <c:pt idx="64">
                  <c:v>420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B81D-4639-88D6-2C82394D4EF0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 Freeosk week </c:v>
                </c:pt>
              </c:strCache>
            </c:strRef>
          </c:tx>
          <c:spPr>
            <a:ln w="28575" cap="rnd">
              <a:noFill/>
              <a:round/>
            </a:ln>
            <a:effectLst/>
          </c:spPr>
          <c:marker>
            <c:symbol val="circle"/>
            <c:size val="15"/>
            <c:spPr>
              <a:solidFill>
                <a:schemeClr val="accent1"/>
              </a:solidFill>
              <a:ln w="9525">
                <a:solidFill>
                  <a:schemeClr val="accent1"/>
                </a:solidFill>
              </a:ln>
              <a:effectLst/>
            </c:spPr>
          </c:marker>
          <c:dPt>
            <c:idx val="59"/>
            <c:marker>
              <c:symbol val="none"/>
            </c:marker>
            <c:bubble3D val="0"/>
            <c:extLst>
              <c:ext xmlns:c16="http://schemas.microsoft.com/office/drawing/2014/chart" uri="{C3380CC4-5D6E-409C-BE32-E72D297353CC}">
                <c16:uniqueId val="{00000002-B81D-4639-88D6-2C82394D4EF0}"/>
              </c:ext>
            </c:extLst>
          </c:dPt>
          <c:cat>
            <c:numRef>
              <c:f>Sheet1!$A$2:$A$66</c:f>
              <c:numCache>
                <c:formatCode>m/d/yyyy</c:formatCode>
                <c:ptCount val="65"/>
                <c:pt idx="0">
                  <c:v>43021</c:v>
                </c:pt>
                <c:pt idx="1">
                  <c:v>43028</c:v>
                </c:pt>
                <c:pt idx="2">
                  <c:v>43035</c:v>
                </c:pt>
                <c:pt idx="3">
                  <c:v>43042</c:v>
                </c:pt>
                <c:pt idx="4">
                  <c:v>43049</c:v>
                </c:pt>
                <c:pt idx="5">
                  <c:v>43056</c:v>
                </c:pt>
                <c:pt idx="6">
                  <c:v>43063</c:v>
                </c:pt>
                <c:pt idx="7">
                  <c:v>43070</c:v>
                </c:pt>
                <c:pt idx="8">
                  <c:v>43077</c:v>
                </c:pt>
                <c:pt idx="9">
                  <c:v>43084</c:v>
                </c:pt>
                <c:pt idx="10">
                  <c:v>43091</c:v>
                </c:pt>
                <c:pt idx="11">
                  <c:v>43098</c:v>
                </c:pt>
                <c:pt idx="12">
                  <c:v>43105</c:v>
                </c:pt>
                <c:pt idx="13">
                  <c:v>43112</c:v>
                </c:pt>
                <c:pt idx="14">
                  <c:v>43119</c:v>
                </c:pt>
                <c:pt idx="15">
                  <c:v>43126</c:v>
                </c:pt>
                <c:pt idx="16">
                  <c:v>43133</c:v>
                </c:pt>
                <c:pt idx="17">
                  <c:v>43140</c:v>
                </c:pt>
                <c:pt idx="18">
                  <c:v>43147</c:v>
                </c:pt>
                <c:pt idx="19">
                  <c:v>43154</c:v>
                </c:pt>
                <c:pt idx="20">
                  <c:v>43161</c:v>
                </c:pt>
                <c:pt idx="21">
                  <c:v>43168</c:v>
                </c:pt>
                <c:pt idx="22">
                  <c:v>43175</c:v>
                </c:pt>
                <c:pt idx="23">
                  <c:v>43182</c:v>
                </c:pt>
                <c:pt idx="24">
                  <c:v>43189</c:v>
                </c:pt>
                <c:pt idx="25">
                  <c:v>43196</c:v>
                </c:pt>
                <c:pt idx="26">
                  <c:v>43203</c:v>
                </c:pt>
                <c:pt idx="27">
                  <c:v>43210</c:v>
                </c:pt>
                <c:pt idx="28">
                  <c:v>43217</c:v>
                </c:pt>
                <c:pt idx="29">
                  <c:v>43224</c:v>
                </c:pt>
                <c:pt idx="30">
                  <c:v>43231</c:v>
                </c:pt>
                <c:pt idx="31">
                  <c:v>43238</c:v>
                </c:pt>
                <c:pt idx="32">
                  <c:v>43245</c:v>
                </c:pt>
                <c:pt idx="33">
                  <c:v>43252</c:v>
                </c:pt>
                <c:pt idx="34">
                  <c:v>43259</c:v>
                </c:pt>
                <c:pt idx="35">
                  <c:v>43266</c:v>
                </c:pt>
                <c:pt idx="36">
                  <c:v>43273</c:v>
                </c:pt>
                <c:pt idx="37">
                  <c:v>43280</c:v>
                </c:pt>
                <c:pt idx="38">
                  <c:v>43287</c:v>
                </c:pt>
                <c:pt idx="39">
                  <c:v>43294</c:v>
                </c:pt>
                <c:pt idx="40">
                  <c:v>43301</c:v>
                </c:pt>
                <c:pt idx="41">
                  <c:v>43308</c:v>
                </c:pt>
                <c:pt idx="42">
                  <c:v>43315</c:v>
                </c:pt>
                <c:pt idx="43">
                  <c:v>43322</c:v>
                </c:pt>
                <c:pt idx="44">
                  <c:v>43329</c:v>
                </c:pt>
                <c:pt idx="45">
                  <c:v>43336</c:v>
                </c:pt>
                <c:pt idx="46">
                  <c:v>43343</c:v>
                </c:pt>
                <c:pt idx="47">
                  <c:v>43350</c:v>
                </c:pt>
                <c:pt idx="48">
                  <c:v>43357</c:v>
                </c:pt>
                <c:pt idx="49">
                  <c:v>43364</c:v>
                </c:pt>
                <c:pt idx="50">
                  <c:v>43371</c:v>
                </c:pt>
                <c:pt idx="51">
                  <c:v>43378</c:v>
                </c:pt>
                <c:pt idx="52">
                  <c:v>43385</c:v>
                </c:pt>
                <c:pt idx="53">
                  <c:v>43392</c:v>
                </c:pt>
                <c:pt idx="54">
                  <c:v>43399</c:v>
                </c:pt>
                <c:pt idx="55">
                  <c:v>43406</c:v>
                </c:pt>
                <c:pt idx="56">
                  <c:v>43413</c:v>
                </c:pt>
                <c:pt idx="57">
                  <c:v>43420</c:v>
                </c:pt>
                <c:pt idx="58">
                  <c:v>43427</c:v>
                </c:pt>
                <c:pt idx="59">
                  <c:v>43434</c:v>
                </c:pt>
                <c:pt idx="60">
                  <c:v>43441</c:v>
                </c:pt>
                <c:pt idx="61">
                  <c:v>43448</c:v>
                </c:pt>
                <c:pt idx="62">
                  <c:v>43455</c:v>
                </c:pt>
                <c:pt idx="63">
                  <c:v>43462</c:v>
                </c:pt>
                <c:pt idx="64">
                  <c:v>43469</c:v>
                </c:pt>
              </c:numCache>
            </c:numRef>
          </c:cat>
          <c:val>
            <c:numRef>
              <c:f>Sheet1!$D$2:$D$66</c:f>
              <c:numCache>
                <c:formatCode>_(* #,##0.00_);_(* \(#,##0.00\);_(* "-"??_);_(@_)</c:formatCode>
                <c:ptCount val="65"/>
                <c:pt idx="0">
                  <c:v>#N/A</c:v>
                </c:pt>
                <c:pt idx="1">
                  <c:v>#N/A</c:v>
                </c:pt>
                <c:pt idx="2">
                  <c:v>#N/A</c:v>
                </c:pt>
                <c:pt idx="3">
                  <c:v>#N/A</c:v>
                </c:pt>
                <c:pt idx="4">
                  <c:v>#N/A</c:v>
                </c:pt>
                <c:pt idx="5">
                  <c:v>#N/A</c:v>
                </c:pt>
                <c:pt idx="6">
                  <c:v>#N/A</c:v>
                </c:pt>
                <c:pt idx="7">
                  <c:v>#N/A</c:v>
                </c:pt>
                <c:pt idx="8">
                  <c:v>#N/A</c:v>
                </c:pt>
                <c:pt idx="9">
                  <c:v>#N/A</c:v>
                </c:pt>
                <c:pt idx="10">
                  <c:v>#N/A</c:v>
                </c:pt>
                <c:pt idx="11">
                  <c:v>#N/A</c:v>
                </c:pt>
                <c:pt idx="12">
                  <c:v>#N/A</c:v>
                </c:pt>
                <c:pt idx="13">
                  <c:v>#N/A</c:v>
                </c:pt>
                <c:pt idx="14">
                  <c:v>#N/A</c:v>
                </c:pt>
                <c:pt idx="15">
                  <c:v>#N/A</c:v>
                </c:pt>
                <c:pt idx="16">
                  <c:v>#N/A</c:v>
                </c:pt>
                <c:pt idx="17">
                  <c:v>#N/A</c:v>
                </c:pt>
                <c:pt idx="18">
                  <c:v>#N/A</c:v>
                </c:pt>
                <c:pt idx="19">
                  <c:v>#N/A</c:v>
                </c:pt>
                <c:pt idx="20">
                  <c:v>#N/A</c:v>
                </c:pt>
                <c:pt idx="21">
                  <c:v>#N/A</c:v>
                </c:pt>
                <c:pt idx="22">
                  <c:v>#N/A</c:v>
                </c:pt>
                <c:pt idx="23">
                  <c:v>#N/A</c:v>
                </c:pt>
                <c:pt idx="24">
                  <c:v>#N/A</c:v>
                </c:pt>
                <c:pt idx="25">
                  <c:v>#N/A</c:v>
                </c:pt>
                <c:pt idx="26">
                  <c:v>#N/A</c:v>
                </c:pt>
                <c:pt idx="27">
                  <c:v>#N/A</c:v>
                </c:pt>
                <c:pt idx="28">
                  <c:v>#N/A</c:v>
                </c:pt>
                <c:pt idx="29">
                  <c:v>#N/A</c:v>
                </c:pt>
                <c:pt idx="30">
                  <c:v>#N/A</c:v>
                </c:pt>
                <c:pt idx="31">
                  <c:v>#N/A</c:v>
                </c:pt>
                <c:pt idx="32">
                  <c:v>#N/A</c:v>
                </c:pt>
                <c:pt idx="33">
                  <c:v>#N/A</c:v>
                </c:pt>
                <c:pt idx="34">
                  <c:v>#N/A</c:v>
                </c:pt>
                <c:pt idx="35">
                  <c:v>#N/A</c:v>
                </c:pt>
                <c:pt idx="36">
                  <c:v>#N/A</c:v>
                </c:pt>
                <c:pt idx="37">
                  <c:v>#N/A</c:v>
                </c:pt>
                <c:pt idx="38">
                  <c:v>#N/A</c:v>
                </c:pt>
                <c:pt idx="39">
                  <c:v>#N/A</c:v>
                </c:pt>
                <c:pt idx="40">
                  <c:v>#N/A</c:v>
                </c:pt>
                <c:pt idx="41">
                  <c:v>#N/A</c:v>
                </c:pt>
                <c:pt idx="42">
                  <c:v>#N/A</c:v>
                </c:pt>
                <c:pt idx="43">
                  <c:v>#N/A</c:v>
                </c:pt>
                <c:pt idx="44">
                  <c:v>#N/A</c:v>
                </c:pt>
                <c:pt idx="45">
                  <c:v>#N/A</c:v>
                </c:pt>
                <c:pt idx="46">
                  <c:v>#N/A</c:v>
                </c:pt>
                <c:pt idx="47">
                  <c:v>#N/A</c:v>
                </c:pt>
                <c:pt idx="48">
                  <c:v>#N/A</c:v>
                </c:pt>
                <c:pt idx="49">
                  <c:v>#N/A</c:v>
                </c:pt>
                <c:pt idx="50">
                  <c:v>#N/A</c:v>
                </c:pt>
                <c:pt idx="51">
                  <c:v>#N/A</c:v>
                </c:pt>
                <c:pt idx="52">
                  <c:v>490</c:v>
                </c:pt>
                <c:pt idx="53">
                  <c:v>#N/A</c:v>
                </c:pt>
                <c:pt idx="54">
                  <c:v>#N/A</c:v>
                </c:pt>
                <c:pt idx="55">
                  <c:v>#N/A</c:v>
                </c:pt>
                <c:pt idx="56">
                  <c:v>#N/A</c:v>
                </c:pt>
                <c:pt idx="57">
                  <c:v>#N/A</c:v>
                </c:pt>
                <c:pt idx="58">
                  <c:v>#N/A</c:v>
                </c:pt>
                <c:pt idx="59">
                  <c:v>#N/A</c:v>
                </c:pt>
                <c:pt idx="60">
                  <c:v>#N/A</c:v>
                </c:pt>
                <c:pt idx="61">
                  <c:v>#N/A</c:v>
                </c:pt>
                <c:pt idx="62">
                  <c:v>#N/A</c:v>
                </c:pt>
                <c:pt idx="63">
                  <c:v>#N/A</c:v>
                </c:pt>
                <c:pt idx="64">
                  <c:v>#N/A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3-B81D-4639-88D6-2C82394D4EF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407936736"/>
        <c:axId val="407940672"/>
      </c:lineChart>
      <c:dateAx>
        <c:axId val="407936736"/>
        <c:scaling>
          <c:orientation val="minMax"/>
        </c:scaling>
        <c:delete val="0"/>
        <c:axPos val="b"/>
        <c:numFmt formatCode="[$-409]mmm\ yy;@" sourceLinked="0"/>
        <c:majorTickMark val="out"/>
        <c:minorTickMark val="none"/>
        <c:tickLblPos val="nextTo"/>
        <c:spPr>
          <a:noFill/>
          <a:ln w="9525" cap="flat" cmpd="sng" algn="ctr">
            <a:solidFill>
              <a:schemeClr val="tx1"/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2200" b="0" i="0" u="none" strike="noStrike" kern="1200" baseline="0">
                <a:solidFill>
                  <a:schemeClr val="tx1"/>
                </a:solidFill>
                <a:latin typeface="Pluto Sans Regular" panose="02000000000000000000" pitchFamily="50" charset="0"/>
                <a:ea typeface="+mn-ea"/>
                <a:cs typeface="+mn-cs"/>
              </a:defRPr>
            </a:pPr>
            <a:endParaRPr lang="en-US"/>
          </a:p>
        </c:txPr>
        <c:crossAx val="407940672"/>
        <c:crosses val="autoZero"/>
        <c:auto val="1"/>
        <c:lblOffset val="100"/>
        <c:baseTimeUnit val="days"/>
        <c:majorUnit val="3"/>
        <c:majorTimeUnit val="months"/>
      </c:dateAx>
      <c:valAx>
        <c:axId val="407940672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_(&quot;$&quot;* #,##0_);_(&quot;$&quot;* \(#,##0\);_(@_)" sourceLinked="0"/>
        <c:majorTickMark val="out"/>
        <c:minorTickMark val="none"/>
        <c:tickLblPos val="nextTo"/>
        <c:spPr>
          <a:noFill/>
          <a:ln>
            <a:solidFill>
              <a:schemeClr val="tx1"/>
            </a:solidFill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2200" b="0" i="0" u="none" strike="noStrike" kern="1200" baseline="0">
                <a:solidFill>
                  <a:schemeClr val="tx1"/>
                </a:solidFill>
                <a:latin typeface="Pluto Sans Regular" panose="02000000000000000000" pitchFamily="50" charset="0"/>
                <a:ea typeface="+mn-ea"/>
                <a:cs typeface="+mn-cs"/>
              </a:defRPr>
            </a:pPr>
            <a:endParaRPr lang="en-US"/>
          </a:p>
        </c:txPr>
        <c:crossAx val="407936736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ayout>
        <c:manualLayout>
          <c:xMode val="edge"/>
          <c:yMode val="edge"/>
          <c:x val="0.14429210485914074"/>
          <c:y val="2.8421104426246579E-2"/>
          <c:w val="0.81410891007627251"/>
          <c:h val="7.2440592843741755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2200" b="0" i="0" u="none" strike="noStrike" kern="1200" baseline="0">
              <a:solidFill>
                <a:schemeClr val="tx1"/>
              </a:solidFill>
              <a:latin typeface="Pluto Sans Regular" panose="02000000000000000000" pitchFamily="50" charset="0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sz="2200">
          <a:solidFill>
            <a:schemeClr val="tx1"/>
          </a:solidFill>
          <a:latin typeface="Pluto Sans Regular" panose="02000000000000000000" pitchFamily="50" charset="0"/>
        </a:defRPr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996173B3-CFD1-DF4E-842C-14A53BC7FE15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963C9EA-5BAC-D24F-874C-7E4E47F3881B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A17E541-75E2-9A4E-9E30-94EAB07A806A}" type="datetimeFigureOut">
              <a:rPr lang="en-US" smtClean="0"/>
              <a:t>2/5/2019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4224F5F-043C-9D48-AE9A-285399219C9C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D65C45D-666F-9D48-9486-263875FA2933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011E95D-8F0D-184E-AB4D-3710127916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665296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EFC0FD4-3F68-9E4B-8664-1448B6B15210}" type="datetimeFigureOut">
              <a:rPr lang="en-US" smtClean="0"/>
              <a:t>2/5/2019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E0B9739-8626-104E-943C-004BF05AE3E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991013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1828891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1pPr>
    <a:lvl2pPr marL="914446" algn="l" defTabSz="1828891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2pPr>
    <a:lvl3pPr marL="1828891" algn="l" defTabSz="1828891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3pPr>
    <a:lvl4pPr marL="2743337" algn="l" defTabSz="1828891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4pPr>
    <a:lvl5pPr marL="3657783" algn="l" defTabSz="1828891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5pPr>
    <a:lvl6pPr marL="4572229" algn="l" defTabSz="1828891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6pPr>
    <a:lvl7pPr marL="5486674" algn="l" defTabSz="1828891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7pPr>
    <a:lvl8pPr marL="6401120" algn="l" defTabSz="1828891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8pPr>
    <a:lvl9pPr marL="7315566" algn="l" defTabSz="1828891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1143000" algn="dec"/>
              </a:tabLst>
              <a:defRPr/>
            </a:pPr>
            <a:r>
              <a:rPr lang="en-US" dirty="0"/>
              <a:t>&lt;=case=&gt;</a:t>
            </a:r>
            <a:endParaRPr lang="en-US" dirty="0">
              <a:solidFill>
                <a:schemeClr val="dk1"/>
              </a:solidFill>
              <a:latin typeface="Pluto Sans Cond Regular" panose="02000000000000000000" pitchFamily="50" charset="0"/>
            </a:endParaRPr>
          </a:p>
          <a:p>
            <a:pPr>
              <a:tabLst>
                <a:tab pos="1143000" algn="dec"/>
              </a:tabLst>
            </a:pPr>
            <a:endParaRPr lang="en-US" dirty="0">
              <a:solidFill>
                <a:schemeClr val="dk1"/>
              </a:solidFill>
              <a:latin typeface="Pluto Sans Cond Regular" panose="02000000000000000000" pitchFamily="50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4BED87B-2946-AA4C-AB39-D093E9107C37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697110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>
            <a:extLst>
              <a:ext uri="{FF2B5EF4-FFF2-40B4-BE49-F238E27FC236}">
                <a16:creationId xmlns:a16="http://schemas.microsoft.com/office/drawing/2014/main" id="{F90B7557-0C6F-674D-9C70-A5A677EA9C8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</p:spPr>
      </p:pic>
      <p:sp>
        <p:nvSpPr>
          <p:cNvPr id="8" name="Title 20">
            <a:extLst>
              <a:ext uri="{FF2B5EF4-FFF2-40B4-BE49-F238E27FC236}">
                <a16:creationId xmlns:a16="http://schemas.microsoft.com/office/drawing/2014/main" id="{283B5CD6-E3C7-B444-B524-0A7F15826A9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61390" y="710372"/>
            <a:ext cx="19972586" cy="1456359"/>
          </a:xfrm>
          <a:prstGeom prst="rect">
            <a:avLst/>
          </a:prstGeom>
        </p:spPr>
        <p:txBody>
          <a:bodyPr anchor="ctr" anchorCtr="0"/>
          <a:lstStyle>
            <a:lvl1pPr algn="l"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89C319F0-2974-614E-82AA-01867F450F4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84694" y="2322581"/>
            <a:ext cx="22598270" cy="9783279"/>
          </a:xfrm>
          <a:prstGeom prst="rect">
            <a:avLst/>
          </a:prstGeom>
        </p:spPr>
        <p:txBody>
          <a:bodyPr/>
          <a:lstStyle>
            <a:lvl1pPr marL="685800" indent="-685800"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1pPr>
            <a:lvl2pPr marL="914400" indent="0">
              <a:buNone/>
              <a:defRPr>
                <a:solidFill>
                  <a:schemeClr val="tx1"/>
                </a:solidFill>
              </a:defRPr>
            </a:lvl2pPr>
            <a:lvl3pPr marL="1828800" indent="0">
              <a:buNone/>
              <a:defRPr>
                <a:solidFill>
                  <a:srgbClr val="63666A"/>
                </a:solidFill>
              </a:defRPr>
            </a:lvl3pPr>
            <a:lvl4pPr marL="2743200" indent="0">
              <a:buNone/>
              <a:defRPr>
                <a:solidFill>
                  <a:srgbClr val="63666A"/>
                </a:solidFill>
              </a:defRPr>
            </a:lvl4pPr>
            <a:lvl5pPr marL="3657600" indent="0">
              <a:buNone/>
              <a:defRPr>
                <a:solidFill>
                  <a:srgbClr val="63666A"/>
                </a:solidFill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3" name="Text Placeholder 9">
            <a:extLst>
              <a:ext uri="{FF2B5EF4-FFF2-40B4-BE49-F238E27FC236}">
                <a16:creationId xmlns:a16="http://schemas.microsoft.com/office/drawing/2014/main" id="{7355F4A8-9D9B-0E41-8A7D-7DF04366311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848856" y="12209929"/>
            <a:ext cx="20443602" cy="753596"/>
          </a:xfrm>
          <a:prstGeom prst="rect">
            <a:avLst/>
          </a:prstGeom>
        </p:spPr>
        <p:txBody>
          <a:bodyPr anchor="b" anchorCtr="0">
            <a:normAutofit/>
          </a:bodyPr>
          <a:lstStyle>
            <a:lvl1pPr marL="0" indent="0">
              <a:buNone/>
              <a:defRPr sz="1400">
                <a:solidFill>
                  <a:schemeClr val="accent6"/>
                </a:solidFill>
              </a:defRPr>
            </a:lvl1pPr>
          </a:lstStyle>
          <a:p>
            <a:pPr lvl="0"/>
            <a:r>
              <a:rPr lang="en-US" dirty="0"/>
              <a:t>Notes:</a:t>
            </a:r>
          </a:p>
        </p:txBody>
      </p:sp>
      <p:sp>
        <p:nvSpPr>
          <p:cNvPr id="14" name="Slide Number Placeholder 2">
            <a:extLst>
              <a:ext uri="{FF2B5EF4-FFF2-40B4-BE49-F238E27FC236}">
                <a16:creationId xmlns:a16="http://schemas.microsoft.com/office/drawing/2014/main" id="{BF69ADE3-DC25-2E40-8AB6-F0DCEB5A231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39274" y="13213976"/>
            <a:ext cx="5487114" cy="502024"/>
          </a:xfrm>
          <a:prstGeom prst="rect">
            <a:avLst/>
          </a:prstGeom>
        </p:spPr>
        <p:txBody>
          <a:bodyPr anchor="ctr" anchorCtr="0"/>
          <a:lstStyle>
            <a:lvl1pPr>
              <a:defRPr sz="1400">
                <a:solidFill>
                  <a:schemeClr val="accent5"/>
                </a:solidFill>
              </a:defRPr>
            </a:lvl1pPr>
          </a:lstStyle>
          <a:p>
            <a:fld id="{62066CCF-ECDE-414D-914A-C0A708193A6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5" name="Footer Placeholder 4">
            <a:extLst>
              <a:ext uri="{FF2B5EF4-FFF2-40B4-BE49-F238E27FC236}">
                <a16:creationId xmlns:a16="http://schemas.microsoft.com/office/drawing/2014/main" id="{8B5596A2-533B-3B47-973E-58F9DFFFFB7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5352008" y="13196795"/>
            <a:ext cx="8230672" cy="519205"/>
          </a:xfrm>
          <a:prstGeom prst="rect">
            <a:avLst/>
          </a:prstGeom>
        </p:spPr>
        <p:txBody>
          <a:bodyPr anchor="ctr" anchorCtr="0"/>
          <a:lstStyle>
            <a:lvl1pPr algn="r">
              <a:defRPr sz="1400">
                <a:solidFill>
                  <a:schemeClr val="accent5"/>
                </a:solidFill>
              </a:defRPr>
            </a:lvl1pPr>
          </a:lstStyle>
          <a:p>
            <a:r>
              <a:rPr lang="en-US" dirty="0"/>
              <a:t>© Freeosk, Inc. Confidential and proprietary.</a:t>
            </a:r>
          </a:p>
        </p:txBody>
      </p:sp>
    </p:spTree>
    <p:extLst>
      <p:ext uri="{BB962C8B-B14F-4D97-AF65-F5344CB8AC3E}">
        <p14:creationId xmlns:p14="http://schemas.microsoft.com/office/powerpoint/2010/main" val="69775722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15AB8C0-75D1-CD4B-A8CE-32A7A2EC43EE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587" y="0"/>
            <a:ext cx="24384000" cy="1371600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7C7CC07A-A5AD-A148-9279-66E557B41EA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676619" y="6097873"/>
            <a:ext cx="21033938" cy="1018230"/>
          </a:xfrm>
          <a:prstGeom prst="rect">
            <a:avLst/>
          </a:prstGeom>
        </p:spPr>
        <p:txBody>
          <a:bodyPr/>
          <a:lstStyle>
            <a:lvl1pPr algn="ctr">
              <a:defRPr/>
            </a:lvl1pPr>
          </a:lstStyle>
          <a:p>
            <a:r>
              <a:rPr lang="en-US" dirty="0"/>
              <a:t>THANKS!</a:t>
            </a:r>
          </a:p>
        </p:txBody>
      </p:sp>
      <p:sp>
        <p:nvSpPr>
          <p:cNvPr id="7" name="Slide Number Placeholder 2">
            <a:extLst>
              <a:ext uri="{FF2B5EF4-FFF2-40B4-BE49-F238E27FC236}">
                <a16:creationId xmlns:a16="http://schemas.microsoft.com/office/drawing/2014/main" id="{18FFCE0E-06A4-3344-B586-D361FD6CA76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39274" y="13213976"/>
            <a:ext cx="5487114" cy="502024"/>
          </a:xfrm>
          <a:prstGeom prst="rect">
            <a:avLst/>
          </a:prstGeom>
        </p:spPr>
        <p:txBody>
          <a:bodyPr anchor="ctr" anchorCtr="0"/>
          <a:lstStyle>
            <a:lvl1pPr>
              <a:defRPr sz="1400">
                <a:solidFill>
                  <a:schemeClr val="accent5"/>
                </a:solidFill>
              </a:defRPr>
            </a:lvl1pPr>
          </a:lstStyle>
          <a:p>
            <a:fld id="{62066CCF-ECDE-414D-914A-C0A708193A6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9" name="Footer Placeholder 4">
            <a:extLst>
              <a:ext uri="{FF2B5EF4-FFF2-40B4-BE49-F238E27FC236}">
                <a16:creationId xmlns:a16="http://schemas.microsoft.com/office/drawing/2014/main" id="{C8DCD125-462E-6243-91B8-10414264B6B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5352008" y="13196795"/>
            <a:ext cx="8230672" cy="519205"/>
          </a:xfrm>
          <a:prstGeom prst="rect">
            <a:avLst/>
          </a:prstGeom>
        </p:spPr>
        <p:txBody>
          <a:bodyPr anchor="ctr" anchorCtr="0"/>
          <a:lstStyle>
            <a:lvl1pPr algn="r">
              <a:defRPr sz="1400">
                <a:solidFill>
                  <a:schemeClr val="accent5"/>
                </a:solidFill>
              </a:defRPr>
            </a:lvl1pPr>
          </a:lstStyle>
          <a:p>
            <a:r>
              <a:rPr lang="en-US" dirty="0"/>
              <a:t>© Freeosk, Inc. Confidential and proprietary.</a:t>
            </a:r>
          </a:p>
        </p:txBody>
      </p:sp>
    </p:spTree>
    <p:extLst>
      <p:ext uri="{BB962C8B-B14F-4D97-AF65-F5344CB8AC3E}">
        <p14:creationId xmlns:p14="http://schemas.microsoft.com/office/powerpoint/2010/main" val="106686228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lide Number Placeholder 2">
            <a:extLst>
              <a:ext uri="{FF2B5EF4-FFF2-40B4-BE49-F238E27FC236}">
                <a16:creationId xmlns:a16="http://schemas.microsoft.com/office/drawing/2014/main" id="{7425CF09-4AF4-0748-8267-DEA396B2F7B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23232" y="13213976"/>
            <a:ext cx="5487114" cy="502024"/>
          </a:xfrm>
          <a:prstGeom prst="rect">
            <a:avLst/>
          </a:prstGeom>
        </p:spPr>
        <p:txBody>
          <a:bodyPr anchor="ctr" anchorCtr="0"/>
          <a:lstStyle>
            <a:lvl1pPr>
              <a:defRPr sz="1400">
                <a:solidFill>
                  <a:schemeClr val="accent5"/>
                </a:solidFill>
              </a:defRPr>
            </a:lvl1pPr>
          </a:lstStyle>
          <a:p>
            <a:fld id="{62066CCF-ECDE-414D-914A-C0A708193A6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0" name="Footer Placeholder 4">
            <a:extLst>
              <a:ext uri="{FF2B5EF4-FFF2-40B4-BE49-F238E27FC236}">
                <a16:creationId xmlns:a16="http://schemas.microsoft.com/office/drawing/2014/main" id="{A9FE8E80-EA62-E740-8D40-6D17E5B795C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5352008" y="13196795"/>
            <a:ext cx="8230672" cy="519205"/>
          </a:xfrm>
          <a:prstGeom prst="rect">
            <a:avLst/>
          </a:prstGeom>
        </p:spPr>
        <p:txBody>
          <a:bodyPr anchor="ctr" anchorCtr="0"/>
          <a:lstStyle>
            <a:lvl1pPr algn="r">
              <a:defRPr sz="1400">
                <a:solidFill>
                  <a:schemeClr val="accent5"/>
                </a:solidFill>
              </a:defRPr>
            </a:lvl1pPr>
          </a:lstStyle>
          <a:p>
            <a:r>
              <a:rPr lang="en-US"/>
              <a:t>© Freeosk, Inc. Confidential and proprietary. v1.0</a:t>
            </a:r>
            <a:endParaRPr lang="en-US" dirty="0"/>
          </a:p>
        </p:txBody>
      </p:sp>
      <p:sp>
        <p:nvSpPr>
          <p:cNvPr id="13" name="Title 20">
            <a:extLst>
              <a:ext uri="{FF2B5EF4-FFF2-40B4-BE49-F238E27FC236}">
                <a16:creationId xmlns:a16="http://schemas.microsoft.com/office/drawing/2014/main" id="{88408E13-7B6A-EA4F-82D7-DDB2B0B2D8FB}"/>
              </a:ext>
            </a:extLst>
          </p:cNvPr>
          <p:cNvSpPr txBox="1">
            <a:spLocks/>
          </p:cNvSpPr>
          <p:nvPr userDrawn="1"/>
        </p:nvSpPr>
        <p:spPr>
          <a:xfrm>
            <a:off x="861390" y="710372"/>
            <a:ext cx="19972586" cy="1456359"/>
          </a:xfrm>
          <a:prstGeom prst="rect">
            <a:avLst/>
          </a:prstGeom>
        </p:spPr>
        <p:txBody>
          <a:bodyPr anchor="ctr" anchorCtr="0"/>
          <a:lstStyle>
            <a:lvl1pPr algn="l" defTabSz="1828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7200" b="1" i="1" kern="1200">
                <a:solidFill>
                  <a:schemeClr val="accent1"/>
                </a:solidFill>
                <a:latin typeface="Pluto Sans" panose="02000000000000000000" pitchFamily="2" charset="77"/>
                <a:ea typeface="+mj-ea"/>
                <a:cs typeface="+mj-cs"/>
              </a:defRPr>
            </a:lvl1pPr>
          </a:lstStyle>
          <a:p>
            <a:r>
              <a:rPr lang="en-US" dirty="0">
                <a:solidFill>
                  <a:schemeClr val="tx1"/>
                </a:solidFill>
              </a:rPr>
              <a:t>CLICK TO EDIT MASTER TITLE STYLE</a:t>
            </a:r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1BC96645-81EB-3041-B9D3-F3DAE1928AD0}"/>
              </a:ext>
            </a:extLst>
          </p:cNvPr>
          <p:cNvSpPr txBox="1">
            <a:spLocks/>
          </p:cNvSpPr>
          <p:nvPr userDrawn="1"/>
        </p:nvSpPr>
        <p:spPr>
          <a:xfrm>
            <a:off x="884694" y="2322581"/>
            <a:ext cx="22598270" cy="9783279"/>
          </a:xfrm>
          <a:prstGeom prst="rect">
            <a:avLst/>
          </a:prstGeom>
        </p:spPr>
        <p:txBody>
          <a:bodyPr/>
          <a:lstStyle>
            <a:lvl1pPr marL="685800" indent="-685800" algn="l" defTabSz="1828800" rtl="0" eaLnBrk="1" latinLnBrk="0" hangingPunct="1">
              <a:lnSpc>
                <a:spcPct val="90000"/>
              </a:lnSpc>
              <a:spcBef>
                <a:spcPts val="2000"/>
              </a:spcBef>
              <a:buFont typeface="Arial" panose="020B0604020202020204" pitchFamily="34" charset="0"/>
              <a:buChar char="•"/>
              <a:defRPr sz="5600" b="0" i="0" kern="1200">
                <a:solidFill>
                  <a:srgbClr val="63666A"/>
                </a:solidFill>
                <a:latin typeface="Pluto Sans" panose="02000000000000000000" pitchFamily="2" charset="77"/>
                <a:ea typeface="+mn-ea"/>
                <a:cs typeface="+mn-cs"/>
              </a:defRPr>
            </a:lvl1pPr>
            <a:lvl2pPr marL="914400" indent="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4800" b="0" i="0" kern="1200">
                <a:solidFill>
                  <a:srgbClr val="63666A"/>
                </a:solidFill>
                <a:latin typeface="Pluto Sans" panose="02000000000000000000" pitchFamily="2" charset="77"/>
                <a:ea typeface="+mn-ea"/>
                <a:cs typeface="+mn-cs"/>
              </a:defRPr>
            </a:lvl2pPr>
            <a:lvl3pPr marL="1828800" indent="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4000" b="0" i="0" kern="1200">
                <a:solidFill>
                  <a:srgbClr val="63666A"/>
                </a:solidFill>
                <a:latin typeface="Pluto Sans" panose="02000000000000000000" pitchFamily="2" charset="77"/>
                <a:ea typeface="+mn-ea"/>
                <a:cs typeface="+mn-cs"/>
              </a:defRPr>
            </a:lvl3pPr>
            <a:lvl4pPr marL="2743200" indent="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600" b="0" i="0" kern="1200">
                <a:solidFill>
                  <a:srgbClr val="63666A"/>
                </a:solidFill>
                <a:latin typeface="Pluto Sans" panose="02000000000000000000" pitchFamily="2" charset="77"/>
                <a:ea typeface="+mn-ea"/>
                <a:cs typeface="+mn-cs"/>
              </a:defRPr>
            </a:lvl4pPr>
            <a:lvl5pPr marL="3657600" indent="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600" b="0" i="0" kern="1200">
                <a:solidFill>
                  <a:srgbClr val="63666A"/>
                </a:solidFill>
                <a:latin typeface="Pluto Sans" panose="02000000000000000000" pitchFamily="2" charset="77"/>
                <a:ea typeface="+mn-ea"/>
                <a:cs typeface="+mn-cs"/>
              </a:defRPr>
            </a:lvl5pPr>
            <a:lvl6pPr marL="50292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9436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68580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77724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</p:txBody>
      </p:sp>
    </p:spTree>
    <p:extLst>
      <p:ext uri="{BB962C8B-B14F-4D97-AF65-F5344CB8AC3E}">
        <p14:creationId xmlns:p14="http://schemas.microsoft.com/office/powerpoint/2010/main" val="20131012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7" r:id="rId1"/>
    <p:sldLayoutId id="2147483748" r:id="rId2"/>
  </p:sldLayoutIdLst>
  <p:hf hdr="0" dt="0"/>
  <p:txStyles>
    <p:titleStyle>
      <a:lvl1pPr algn="l" defTabSz="1828800" rtl="0" eaLnBrk="1" latinLnBrk="0" hangingPunct="1">
        <a:lnSpc>
          <a:spcPct val="90000"/>
        </a:lnSpc>
        <a:spcBef>
          <a:spcPct val="0"/>
        </a:spcBef>
        <a:buNone/>
        <a:defRPr sz="7200" b="1" i="1" kern="1200">
          <a:solidFill>
            <a:schemeClr val="accent1"/>
          </a:solidFill>
          <a:latin typeface="Pluto Sans" panose="02000000000000000000" pitchFamily="2" charset="77"/>
          <a:ea typeface="+mj-ea"/>
          <a:cs typeface="+mj-cs"/>
        </a:defRPr>
      </a:lvl1pPr>
    </p:titleStyle>
    <p:bodyStyle>
      <a:lvl1pPr marL="457200" indent="-457200" algn="l" defTabSz="1828800" rtl="0" eaLnBrk="1" latinLnBrk="0" hangingPunct="1">
        <a:lnSpc>
          <a:spcPct val="90000"/>
        </a:lnSpc>
        <a:spcBef>
          <a:spcPts val="2000"/>
        </a:spcBef>
        <a:buFont typeface="Arial" panose="020B0604020202020204" pitchFamily="34" charset="0"/>
        <a:buChar char="•"/>
        <a:defRPr sz="5600" b="0" i="0" kern="1200">
          <a:solidFill>
            <a:schemeClr val="tx2"/>
          </a:solidFill>
          <a:latin typeface="Pluto Sans" panose="02000000000000000000" pitchFamily="2" charset="77"/>
          <a:ea typeface="+mn-ea"/>
          <a:cs typeface="+mn-cs"/>
        </a:defRPr>
      </a:lvl1pPr>
      <a:lvl2pPr marL="13716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4800" b="0" i="0" kern="1200">
          <a:solidFill>
            <a:schemeClr val="tx2"/>
          </a:solidFill>
          <a:latin typeface="Pluto Sans" panose="02000000000000000000" pitchFamily="2" charset="77"/>
          <a:ea typeface="+mn-ea"/>
          <a:cs typeface="+mn-cs"/>
        </a:defRPr>
      </a:lvl2pPr>
      <a:lvl3pPr marL="22860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4000" b="0" i="0" kern="1200">
          <a:solidFill>
            <a:schemeClr val="tx2"/>
          </a:solidFill>
          <a:latin typeface="Pluto Sans" panose="02000000000000000000" pitchFamily="2" charset="77"/>
          <a:ea typeface="+mn-ea"/>
          <a:cs typeface="+mn-cs"/>
        </a:defRPr>
      </a:lvl3pPr>
      <a:lvl4pPr marL="32004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b="0" i="0" kern="1200">
          <a:solidFill>
            <a:schemeClr val="tx2"/>
          </a:solidFill>
          <a:latin typeface="Pluto Sans" panose="02000000000000000000" pitchFamily="2" charset="77"/>
          <a:ea typeface="+mn-ea"/>
          <a:cs typeface="+mn-cs"/>
        </a:defRPr>
      </a:lvl4pPr>
      <a:lvl5pPr marL="41148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b="0" i="0" kern="1200">
          <a:solidFill>
            <a:schemeClr val="tx2"/>
          </a:solidFill>
          <a:latin typeface="Pluto Sans" panose="02000000000000000000" pitchFamily="2" charset="77"/>
          <a:ea typeface="+mn-ea"/>
          <a:cs typeface="+mn-cs"/>
        </a:defRPr>
      </a:lvl5pPr>
      <a:lvl6pPr marL="50292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6pPr>
      <a:lvl7pPr marL="59436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7pPr>
      <a:lvl8pPr marL="68580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8pPr>
      <a:lvl9pPr marL="77724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1pPr>
      <a:lvl2pPr marL="9144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2pPr>
      <a:lvl3pPr marL="18288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3pPr>
      <a:lvl4pPr marL="27432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4pPr>
      <a:lvl5pPr marL="36576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5pPr>
      <a:lvl6pPr marL="45720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6pPr>
      <a:lvl7pPr marL="54864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7pPr>
      <a:lvl8pPr marL="64008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8pPr>
      <a:lvl9pPr marL="73152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0" name="Chart 11">
            <a:extLst>
              <a:ext uri="{FF2B5EF4-FFF2-40B4-BE49-F238E27FC236}">
                <a16:creationId xmlns:a16="http://schemas.microsoft.com/office/drawing/2014/main" id="{6954BA39-DED7-4633-88C0-C82CB92D902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214821829"/>
              </p:ext>
            </p:extLst>
          </p:nvPr>
        </p:nvGraphicFramePr>
        <p:xfrm>
          <a:off x="8967967" y="3473100"/>
          <a:ext cx="9464163" cy="418657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pic>
        <p:nvPicPr>
          <p:cNvPr id="18" name="case study render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55040" y="4094179"/>
            <a:ext cx="2725420" cy="3633892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1390" y="710372"/>
            <a:ext cx="18253085" cy="1456359"/>
          </a:xfrm>
        </p:spPr>
        <p:txBody>
          <a:bodyPr anchor="t">
            <a:noAutofit/>
          </a:bodyPr>
          <a:lstStyle/>
          <a:p>
            <a:r>
              <a:rPr lang="en-US" sz="5600" b="0">
                <a:latin typeface="Pluto Sans Bold" panose="02000000000000000000" pitchFamily="50" charset="0"/>
              </a:rPr>
              <a:t>Fruit Snacks Core case study</a:t>
            </a:r>
            <a:endParaRPr lang="en-US" sz="5600" b="0" dirty="0">
              <a:latin typeface="Pluto Sans Bold" panose="02000000000000000000" pitchFamily="50" charset="0"/>
            </a:endParaRP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4CA9DF5E-3D1E-46AA-A8A8-7D5C81A7A2D7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807190" y="12209929"/>
            <a:ext cx="20443602" cy="753596"/>
          </a:xfrm>
        </p:spPr>
        <p:txBody>
          <a:bodyPr>
            <a:normAutofit/>
          </a:bodyPr>
          <a:lstStyle/>
          <a:p>
            <a:r>
              <a:rPr lang="en-US" sz="2000" dirty="0">
                <a:solidFill>
                  <a:schemeClr val="tx1"/>
                </a:solidFill>
              </a:rPr>
              <a:t>Conversion calculated using card methodology; see card calculation presentation for further details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 dirty="0"/>
              <a:t>©2018 </a:t>
            </a:r>
            <a:r>
              <a:rPr lang="en-US" dirty="0" err="1"/>
              <a:t>Freeosk</a:t>
            </a:r>
            <a:r>
              <a:rPr lang="en-US" dirty="0"/>
              <a:t>, Inc. For internal use only. Confidential and proprietary. 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329497" y="3879240"/>
            <a:ext cx="350449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endParaRPr lang="en-US" sz="2800" dirty="0">
              <a:solidFill>
                <a:schemeClr val="accent1"/>
              </a:solidFill>
              <a:latin typeface="Pluto Sans Regular" panose="02000000000000000000" pitchFamily="50" charset="0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8845176" y="2954027"/>
            <a:ext cx="854253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latin typeface="Pluto Sans Regular" panose="02000000000000000000" pitchFamily="50" charset="0"/>
              </a:rPr>
              <a:t>Sales ($) per club at </a:t>
            </a:r>
            <a:r>
              <a:rPr lang="en-US" sz="2800" dirty="0" err="1">
                <a:latin typeface="Pluto Sans Regular" panose="02000000000000000000" pitchFamily="50" charset="0"/>
              </a:rPr>
              <a:t>Freeosk</a:t>
            </a:r>
            <a:r>
              <a:rPr lang="en-US" sz="2800" dirty="0">
                <a:latin typeface="Pluto Sans Regular" panose="02000000000000000000" pitchFamily="50" charset="0"/>
              </a:rPr>
              <a:t> program clubs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845175" y="2350075"/>
            <a:ext cx="1366113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3200" b="1" dirty="0">
                <a:latin typeface="Pluto Sans Regular" panose="02000000000000000000" pitchFamily="50" charset="0"/>
              </a:rPr>
              <a:t>Weekly sales trend and sales lift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845175" y="7963271"/>
            <a:ext cx="1366113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3200" b="1" dirty="0">
                <a:latin typeface="Pluto Sans Regular" panose="02000000000000000000" pitchFamily="50" charset="0"/>
              </a:rPr>
              <a:t>Purchaser segmentation</a:t>
            </a:r>
          </a:p>
        </p:txBody>
      </p:sp>
      <p:graphicFrame>
        <p:nvGraphicFramePr>
          <p:cNvPr id="27" name="Table 2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28162230"/>
              </p:ext>
            </p:extLst>
          </p:nvPr>
        </p:nvGraphicFramePr>
        <p:xfrm>
          <a:off x="9064902" y="8553966"/>
          <a:ext cx="13295376" cy="277132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85096">
                  <a:extLst>
                    <a:ext uri="{9D8B030D-6E8A-4147-A177-3AD203B41FA5}">
                      <a16:colId xmlns:a16="http://schemas.microsoft.com/office/drawing/2014/main" val="821594761"/>
                    </a:ext>
                  </a:extLst>
                </a:gridCol>
                <a:gridCol w="3362592">
                  <a:extLst>
                    <a:ext uri="{9D8B030D-6E8A-4147-A177-3AD203B41FA5}">
                      <a16:colId xmlns:a16="http://schemas.microsoft.com/office/drawing/2014/main" val="558351193"/>
                    </a:ext>
                  </a:extLst>
                </a:gridCol>
                <a:gridCol w="3323844">
                  <a:extLst>
                    <a:ext uri="{9D8B030D-6E8A-4147-A177-3AD203B41FA5}">
                      <a16:colId xmlns:a16="http://schemas.microsoft.com/office/drawing/2014/main" val="1032550879"/>
                    </a:ext>
                  </a:extLst>
                </a:gridCol>
                <a:gridCol w="3323844">
                  <a:extLst>
                    <a:ext uri="{9D8B030D-6E8A-4147-A177-3AD203B41FA5}">
                      <a16:colId xmlns:a16="http://schemas.microsoft.com/office/drawing/2014/main" val="1777557803"/>
                    </a:ext>
                  </a:extLst>
                </a:gridCol>
              </a:tblGrid>
              <a:tr h="1084008">
                <a:tc>
                  <a:txBody>
                    <a:bodyPr/>
                    <a:lstStyle/>
                    <a:p>
                      <a:pPr algn="ctr"/>
                      <a:r>
                        <a:rPr lang="en-US" sz="4000" kern="1200">
                          <a:solidFill>
                            <a:schemeClr val="tx1"/>
                          </a:solidFill>
                          <a:latin typeface="Pluto Sans Regular" panose="02000000000000000000" pitchFamily="50" charset="0"/>
                          <a:ea typeface="+mn-ea"/>
                          <a:cs typeface="PT Sans Caption"/>
                        </a:rPr>
                        <a:t>4,561</a:t>
                      </a:r>
                      <a:endParaRPr lang="en-US" sz="400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PT Sans Caption"/>
                      </a:endParaRPr>
                    </a:p>
                  </a:txBody>
                  <a:tcPr marL="182880" marR="182880" marT="91440" marB="91440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4000">
                          <a:solidFill>
                            <a:schemeClr val="accent1"/>
                          </a:solidFill>
                          <a:latin typeface="Pluto Sans Regular" panose="02000000000000000000" pitchFamily="50" charset="0"/>
                          <a:cs typeface="PT Sans Caption"/>
                        </a:rPr>
                        <a:t>58%</a:t>
                      </a:r>
                      <a:endParaRPr lang="en-US" sz="4000" dirty="0">
                        <a:solidFill>
                          <a:schemeClr val="accent1"/>
                        </a:solidFill>
                        <a:latin typeface="Pluto Sans Regular" panose="02000000000000000000" pitchFamily="50" charset="0"/>
                        <a:cs typeface="PT Sans Caption"/>
                      </a:endParaRPr>
                    </a:p>
                  </a:txBody>
                  <a:tcPr marL="182880" marR="182880" marT="91440" marB="9144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4000">
                          <a:solidFill>
                            <a:schemeClr val="accent4"/>
                          </a:solidFill>
                          <a:latin typeface="Pluto Sans Regular" panose="02000000000000000000" pitchFamily="50" charset="0"/>
                          <a:cs typeface="PT Sans Caption"/>
                        </a:rPr>
                        <a:t>10%</a:t>
                      </a:r>
                      <a:endParaRPr lang="en-US" sz="4000" dirty="0">
                        <a:solidFill>
                          <a:schemeClr val="accent4"/>
                        </a:solidFill>
                        <a:latin typeface="Pluto Sans Regular" panose="02000000000000000000" pitchFamily="50" charset="0"/>
                        <a:cs typeface="PT Sans Caption"/>
                      </a:endParaRPr>
                    </a:p>
                  </a:txBody>
                  <a:tcPr marL="182880" marR="182880" marT="91440" marB="91440" anchor="ctr">
                    <a:lnL w="12700" cmpd="sng">
                      <a:noFill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4000" b="1" kern="1200">
                          <a:solidFill>
                            <a:schemeClr val="accent2"/>
                          </a:solidFill>
                          <a:latin typeface="Pluto Sans Regular" panose="02000000000000000000" pitchFamily="50" charset="0"/>
                          <a:ea typeface="+mn-ea"/>
                          <a:cs typeface="PT Sans Caption"/>
                        </a:rPr>
                        <a:t>32%</a:t>
                      </a:r>
                      <a:endParaRPr lang="en-US" sz="4000" b="1" kern="1200" dirty="0">
                        <a:solidFill>
                          <a:schemeClr val="accent2"/>
                        </a:solidFill>
                        <a:latin typeface="Pluto Sans Regular" panose="02000000000000000000" pitchFamily="50" charset="0"/>
                        <a:ea typeface="+mn-ea"/>
                        <a:cs typeface="PT Sans Caption"/>
                      </a:endParaRPr>
                    </a:p>
                  </a:txBody>
                  <a:tcPr marL="182880" marR="182880" marT="91440" marB="9144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82575697"/>
                  </a:ext>
                </a:extLst>
              </a:tr>
              <a:tr h="822960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chemeClr val="tx1"/>
                          </a:solidFill>
                          <a:latin typeface="Pluto Sans Regular" panose="02000000000000000000" pitchFamily="50" charset="0"/>
                          <a:cs typeface="PT Sans Caption"/>
                        </a:rPr>
                        <a:t>Total Freeosk Purchasers</a:t>
                      </a:r>
                    </a:p>
                  </a:txBody>
                  <a:tcPr marL="182880" marR="182880" marT="0" marB="91440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>
                          <a:solidFill>
                            <a:schemeClr val="accent1"/>
                          </a:solidFill>
                          <a:latin typeface="Pluto Sans Regular" panose="02000000000000000000" pitchFamily="50" charset="0"/>
                          <a:cs typeface="PT Sans Caption"/>
                        </a:rPr>
                        <a:t>A. New to Item</a:t>
                      </a:r>
                      <a:r>
                        <a:rPr lang="en-US" sz="2000" baseline="0" dirty="0">
                          <a:solidFill>
                            <a:schemeClr val="accent1"/>
                          </a:solidFill>
                          <a:latin typeface="Pluto Sans Regular" panose="02000000000000000000" pitchFamily="50" charset="0"/>
                          <a:cs typeface="PT Sans Caption"/>
                        </a:rPr>
                        <a:t> and </a:t>
                      </a:r>
                      <a:r>
                        <a:rPr lang="en-US" sz="2000" dirty="0">
                          <a:solidFill>
                            <a:schemeClr val="accent1"/>
                          </a:solidFill>
                          <a:latin typeface="Pluto Sans Regular" panose="02000000000000000000" pitchFamily="50" charset="0"/>
                          <a:cs typeface="PT Sans Caption"/>
                        </a:rPr>
                        <a:t>Sub-Cat</a:t>
                      </a:r>
                    </a:p>
                  </a:txBody>
                  <a:tcPr marL="182880" marR="182880" marT="0" marB="9144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>
                          <a:solidFill>
                            <a:schemeClr val="accent4"/>
                          </a:solidFill>
                          <a:latin typeface="Pluto Sans Regular" panose="02000000000000000000" pitchFamily="50" charset="0"/>
                          <a:cs typeface="PT Sans Caption"/>
                        </a:rPr>
                        <a:t>B. New to Item</a:t>
                      </a:r>
                    </a:p>
                  </a:txBody>
                  <a:tcPr marL="182880" marR="182880" marT="0" marB="91440">
                    <a:lnL w="12700" cmpd="sng">
                      <a:noFill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>
                          <a:solidFill>
                            <a:schemeClr val="accent2"/>
                          </a:solidFill>
                          <a:latin typeface="Pluto Sans Regular" panose="02000000000000000000" pitchFamily="50" charset="0"/>
                          <a:cs typeface="PT Sans Caption"/>
                        </a:rPr>
                        <a:t>C. Current User</a:t>
                      </a:r>
                    </a:p>
                  </a:txBody>
                  <a:tcPr marL="182880" marR="182880" marT="0" marB="9144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19772759"/>
                  </a:ext>
                </a:extLst>
              </a:tr>
              <a:tr h="864354">
                <a:tc>
                  <a:txBody>
                    <a:bodyPr/>
                    <a:lstStyle/>
                    <a:p>
                      <a:pPr algn="ctr"/>
                      <a:endParaRPr lang="en-US" sz="24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cs typeface="PT Sans Caption"/>
                      </a:endParaRPr>
                    </a:p>
                  </a:txBody>
                  <a:tcPr marL="182880" marR="182880" marT="91440" marB="91440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200" kern="1200">
                          <a:solidFill>
                            <a:schemeClr val="tx1"/>
                          </a:solidFill>
                          <a:latin typeface="Pluto Sans Regular" panose="02000000000000000000" pitchFamily="50" charset="0"/>
                          <a:ea typeface="+mn-ea"/>
                          <a:cs typeface="PT Sans Caption"/>
                        </a:rPr>
                        <a:t>(A + B): 68%</a:t>
                      </a:r>
                      <a:endParaRPr lang="en-US" sz="320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PT Sans Caption"/>
                      </a:endParaRPr>
                    </a:p>
                  </a:txBody>
                  <a:tcPr marL="182880" marR="182880" marT="182880" marB="9144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200" dirty="0">
                        <a:solidFill>
                          <a:schemeClr val="accent4"/>
                        </a:solidFill>
                        <a:latin typeface="Pluto Sans Cond Regular" panose="02000000000000000000" pitchFamily="50" charset="0"/>
                        <a:cs typeface="PT Sans Caption"/>
                      </a:endParaRPr>
                    </a:p>
                  </a:txBody>
                  <a:tcPr>
                    <a:lnL w="12700" cmpd="sng">
                      <a:noFill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240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PT Sans Caption"/>
                      </a:endParaRPr>
                    </a:p>
                  </a:txBody>
                  <a:tcPr marL="182880" marR="182880" marT="91440" marB="9144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41046985"/>
                  </a:ext>
                </a:extLst>
              </a:tr>
            </a:tbl>
          </a:graphicData>
        </a:graphic>
      </p:graphicFrame>
      <p:sp>
        <p:nvSpPr>
          <p:cNvPr id="31" name="TextBox 30">
            <a:extLst>
              <a:ext uri="{FF2B5EF4-FFF2-40B4-BE49-F238E27FC236}">
                <a16:creationId xmlns:a16="http://schemas.microsoft.com/office/drawing/2014/main" id="{4AE94808-44B2-4848-935F-F6BF0BF87243}"/>
              </a:ext>
            </a:extLst>
          </p:cNvPr>
          <p:cNvSpPr txBox="1"/>
          <p:nvPr/>
        </p:nvSpPr>
        <p:spPr>
          <a:xfrm>
            <a:off x="1290569" y="3776526"/>
            <a:ext cx="4586256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>
                <a:latin typeface="Pluto Sans Regular" panose="02000000000000000000" pitchFamily="50" charset="0"/>
              </a:rPr>
              <a:t>172 clubs</a:t>
            </a:r>
          </a:p>
          <a:p>
            <a:r>
              <a:rPr lang="en-US" sz="2800">
                <a:latin typeface="Pluto Sans Regular" panose="02000000000000000000" pitchFamily="50" charset="0"/>
              </a:rPr>
              <a:t>Secondary Item (Merch)</a:t>
            </a:r>
            <a:endParaRPr lang="en-US" sz="2800" dirty="0">
              <a:latin typeface="Pluto Sans Regular" panose="02000000000000000000" pitchFamily="50" charset="0"/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704B0E4E-1D8C-4162-B106-3EF4D69F1072}"/>
              </a:ext>
            </a:extLst>
          </p:cNvPr>
          <p:cNvSpPr txBox="1"/>
          <p:nvPr/>
        </p:nvSpPr>
        <p:spPr>
          <a:xfrm>
            <a:off x="861390" y="2324377"/>
            <a:ext cx="7362849" cy="10772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>
                <a:solidFill>
                  <a:schemeClr val="tx2"/>
                </a:solidFill>
                <a:latin typeface="Pluto Sans Regular" panose="02000000000000000000" pitchFamily="50" charset="0"/>
              </a:rPr>
              <a:t>Category: Snacks </a:t>
            </a:r>
          </a:p>
          <a:p>
            <a:r>
              <a:rPr lang="en-US" sz="3200">
                <a:solidFill>
                  <a:schemeClr val="tx2"/>
                </a:solidFill>
                <a:latin typeface="Pluto Sans Regular" panose="02000000000000000000" pitchFamily="50" charset="0"/>
              </a:rPr>
              <a:t>Sub-Category: Fruit Snacks Core</a:t>
            </a:r>
            <a:endParaRPr lang="en-US" sz="3200" dirty="0">
              <a:solidFill>
                <a:schemeClr val="tx2"/>
              </a:solidFill>
              <a:latin typeface="Pluto Sans Regular" panose="02000000000000000000" pitchFamily="50" charset="0"/>
            </a:endParaRP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4B750DFB-BC1D-476A-8FCE-FCD307A1C144}"/>
              </a:ext>
            </a:extLst>
          </p:cNvPr>
          <p:cNvCxnSpPr>
            <a:cxnSpLocks/>
          </p:cNvCxnSpPr>
          <p:nvPr/>
        </p:nvCxnSpPr>
        <p:spPr>
          <a:xfrm>
            <a:off x="1290569" y="7793022"/>
            <a:ext cx="22008343" cy="81468"/>
          </a:xfrm>
          <a:prstGeom prst="line">
            <a:avLst/>
          </a:prstGeom>
          <a:ln>
            <a:solidFill>
              <a:schemeClr val="tx2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45AB58E9-68E5-4C84-B8F3-0C9400227D07}"/>
              </a:ext>
            </a:extLst>
          </p:cNvPr>
          <p:cNvCxnSpPr>
            <a:cxnSpLocks/>
          </p:cNvCxnSpPr>
          <p:nvPr/>
        </p:nvCxnSpPr>
        <p:spPr>
          <a:xfrm>
            <a:off x="8762953" y="3027182"/>
            <a:ext cx="0" cy="8595360"/>
          </a:xfrm>
          <a:prstGeom prst="line">
            <a:avLst/>
          </a:prstGeom>
          <a:ln>
            <a:solidFill>
              <a:schemeClr val="tx2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23" name="Table 22">
            <a:extLst>
              <a:ext uri="{FF2B5EF4-FFF2-40B4-BE49-F238E27FC236}">
                <a16:creationId xmlns:a16="http://schemas.microsoft.com/office/drawing/2014/main" id="{1EEA17DC-63A2-46F2-BA67-E4B252A0A3B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92382741"/>
              </p:ext>
            </p:extLst>
          </p:nvPr>
        </p:nvGraphicFramePr>
        <p:xfrm>
          <a:off x="1290570" y="7874489"/>
          <a:ext cx="7410978" cy="32377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56965">
                  <a:extLst>
                    <a:ext uri="{9D8B030D-6E8A-4147-A177-3AD203B41FA5}">
                      <a16:colId xmlns:a16="http://schemas.microsoft.com/office/drawing/2014/main" val="2552176294"/>
                    </a:ext>
                  </a:extLst>
                </a:gridCol>
                <a:gridCol w="1592826">
                  <a:extLst>
                    <a:ext uri="{9D8B030D-6E8A-4147-A177-3AD203B41FA5}">
                      <a16:colId xmlns:a16="http://schemas.microsoft.com/office/drawing/2014/main" val="843218093"/>
                    </a:ext>
                  </a:extLst>
                </a:gridCol>
                <a:gridCol w="1061884">
                  <a:extLst>
                    <a:ext uri="{9D8B030D-6E8A-4147-A177-3AD203B41FA5}">
                      <a16:colId xmlns:a16="http://schemas.microsoft.com/office/drawing/2014/main" val="1772864116"/>
                    </a:ext>
                  </a:extLst>
                </a:gridCol>
                <a:gridCol w="1799303">
                  <a:extLst>
                    <a:ext uri="{9D8B030D-6E8A-4147-A177-3AD203B41FA5}">
                      <a16:colId xmlns:a16="http://schemas.microsoft.com/office/drawing/2014/main" val="1894900302"/>
                    </a:ext>
                  </a:extLst>
                </a:gridCol>
              </a:tblGrid>
              <a:tr h="0">
                <a:tc gridSpan="4">
                  <a:txBody>
                    <a:bodyPr/>
                    <a:lstStyle/>
                    <a:p>
                      <a:r>
                        <a:rPr lang="en-US" sz="3200" b="1" kern="1200" dirty="0">
                          <a:solidFill>
                            <a:schemeClr val="tx1"/>
                          </a:solidFill>
                          <a:latin typeface="Pluto Sans Regular" panose="02000000000000000000" pitchFamily="50" charset="0"/>
                          <a:ea typeface="+mn-ea"/>
                          <a:cs typeface="+mn-cs"/>
                        </a:rPr>
                        <a:t>Engagement and conversion</a:t>
                      </a:r>
                    </a:p>
                  </a:txBody>
                  <a:tcPr marL="182880" marR="182880" marT="91440" marB="91440" anchor="ctr"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400" b="0" kern="1200" dirty="0">
                        <a:solidFill>
                          <a:schemeClr val="tx1"/>
                        </a:solidFill>
                        <a:latin typeface="Pluto Sans Cond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anchor="ctr"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400" b="0" kern="1200" dirty="0">
                        <a:solidFill>
                          <a:schemeClr val="tx1"/>
                        </a:solidFill>
                        <a:latin typeface="Pluto Sans Cond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895517"/>
                  </a:ext>
                </a:extLst>
              </a:tr>
              <a:tr h="552090">
                <a:tc>
                  <a:txBody>
                    <a:bodyPr/>
                    <a:lstStyle/>
                    <a:p>
                      <a:r>
                        <a:rPr lang="en-US" sz="2800" b="0" dirty="0">
                          <a:latin typeface="Pluto Sans Regular" panose="02000000000000000000" pitchFamily="50" charset="0"/>
                        </a:rPr>
                        <a:t>Awareness</a:t>
                      </a:r>
                    </a:p>
                  </a:txBody>
                  <a:tcPr marL="182880" marR="1828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200" b="0" kern="1200">
                          <a:solidFill>
                            <a:schemeClr val="tx1"/>
                          </a:solidFill>
                          <a:latin typeface="Pluto Sans Regular" panose="02000000000000000000" pitchFamily="50" charset="0"/>
                          <a:ea typeface="+mn-ea"/>
                          <a:cs typeface="+mn-cs"/>
                        </a:rPr>
                        <a:t>2.0M</a:t>
                      </a:r>
                      <a:endParaRPr lang="en-US" sz="3200" b="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182880" marT="0" marB="0" anchor="ctr">
                    <a:noFill/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l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b="0" kern="1200" dirty="0">
                          <a:solidFill>
                            <a:schemeClr val="tx1"/>
                          </a:solidFill>
                          <a:latin typeface="Pluto Sans Regular" panose="02000000000000000000" pitchFamily="50" charset="0"/>
                          <a:ea typeface="+mn-ea"/>
                          <a:cs typeface="+mn-cs"/>
                        </a:rPr>
                        <a:t>Members</a:t>
                      </a:r>
                    </a:p>
                  </a:txBody>
                  <a:tcPr marL="0" marR="182880" marT="0" marB="0" anchor="ctr"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500" b="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182880" marR="182880" marT="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09621504"/>
                  </a:ext>
                </a:extLst>
              </a:tr>
              <a:tr h="552090">
                <a:tc>
                  <a:txBody>
                    <a:bodyPr/>
                    <a:lstStyle/>
                    <a:p>
                      <a:r>
                        <a:rPr lang="en-US" sz="2800" b="0" dirty="0">
                          <a:latin typeface="Pluto Sans Regular" panose="02000000000000000000" pitchFamily="50" charset="0"/>
                        </a:rPr>
                        <a:t>Engagement</a:t>
                      </a:r>
                    </a:p>
                  </a:txBody>
                  <a:tcPr marL="182880" marR="1828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200" b="0" kern="1200">
                          <a:solidFill>
                            <a:schemeClr val="tx1"/>
                          </a:solidFill>
                          <a:latin typeface="Pluto Sans Regular" panose="02000000000000000000" pitchFamily="50" charset="0"/>
                          <a:ea typeface="+mn-ea"/>
                          <a:cs typeface="+mn-cs"/>
                        </a:rPr>
                        <a:t>171K</a:t>
                      </a:r>
                      <a:endParaRPr lang="en-US" sz="3200" b="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1828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b="0" kern="1200" dirty="0">
                          <a:solidFill>
                            <a:schemeClr val="tx1"/>
                          </a:solidFill>
                          <a:latin typeface="Pluto Sans Regular" panose="02000000000000000000" pitchFamily="50" charset="0"/>
                          <a:ea typeface="+mn-ea"/>
                          <a:cs typeface="+mn-cs"/>
                        </a:rPr>
                        <a:t>Scans</a:t>
                      </a:r>
                    </a:p>
                  </a:txBody>
                  <a:tcPr marL="0" marR="1828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200" b="0" kern="1200">
                          <a:solidFill>
                            <a:schemeClr val="tx1"/>
                          </a:solidFill>
                          <a:latin typeface="Pluto Sans Regular" panose="02000000000000000000" pitchFamily="50" charset="0"/>
                          <a:ea typeface="+mn-ea"/>
                          <a:cs typeface="+mn-cs"/>
                        </a:rPr>
                        <a:t>8.8%</a:t>
                      </a:r>
                      <a:endParaRPr lang="en-US" sz="3200" b="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182880" marR="182880" marT="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61638741"/>
                  </a:ext>
                </a:extLst>
              </a:tr>
              <a:tr h="138022">
                <a:tc>
                  <a:txBody>
                    <a:bodyPr/>
                    <a:lstStyle/>
                    <a:p>
                      <a:endParaRPr lang="en-US" sz="2800" b="0" dirty="0">
                        <a:latin typeface="Pluto Sans Regular" panose="02000000000000000000" pitchFamily="50" charset="0"/>
                      </a:endParaRPr>
                    </a:p>
                  </a:txBody>
                  <a:tcPr marL="182880" marR="1828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2800" b="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1828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2400" b="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0" marR="1828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3200" b="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182880" marR="182880" marT="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9285044"/>
                  </a:ext>
                </a:extLst>
              </a:tr>
              <a:tr h="414067">
                <a:tc>
                  <a:txBody>
                    <a:bodyPr/>
                    <a:lstStyle/>
                    <a:p>
                      <a:r>
                        <a:rPr lang="en-US" sz="2800" b="0" dirty="0">
                          <a:latin typeface="Pluto Sans Regular" panose="02000000000000000000" pitchFamily="50" charset="0"/>
                        </a:rPr>
                        <a:t>Conversion</a:t>
                      </a:r>
                    </a:p>
                  </a:txBody>
                  <a:tcPr marL="182880" marR="182880" marT="0" marB="0" anchor="ctr"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en-US" sz="500" dirty="0">
                        <a:latin typeface="Pluto Sans Regular" panose="02000000000000000000" pitchFamily="50" charset="0"/>
                      </a:endParaRPr>
                    </a:p>
                  </a:txBody>
                  <a:tcPr marL="182880" marR="182880" marT="0" marB="0" anchor="ctr"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200" b="0" kern="1200">
                          <a:solidFill>
                            <a:schemeClr val="tx1"/>
                          </a:solidFill>
                          <a:latin typeface="Pluto Sans Regular" panose="02000000000000000000" pitchFamily="50" charset="0"/>
                          <a:ea typeface="+mn-ea"/>
                          <a:cs typeface="+mn-cs"/>
                        </a:rPr>
                        <a:t>2.7%</a:t>
                      </a:r>
                      <a:endParaRPr lang="en-US" sz="3200" b="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182880" marR="182880" marT="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67403802"/>
                  </a:ext>
                </a:extLst>
              </a:tr>
              <a:tr h="414067">
                <a:tc>
                  <a:txBody>
                    <a:bodyPr/>
                    <a:lstStyle/>
                    <a:p>
                      <a:r>
                        <a:rPr lang="en-US" sz="2800" b="0" dirty="0">
                          <a:latin typeface="Pluto Sans Regular" panose="02000000000000000000" pitchFamily="50" charset="0"/>
                        </a:rPr>
                        <a:t>Repeat</a:t>
                      </a:r>
                    </a:p>
                  </a:txBody>
                  <a:tcPr marL="182880" marR="182880" marT="0" marB="0" anchor="ctr"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en-US" sz="500" dirty="0">
                        <a:latin typeface="Pluto Sans Regular" panose="02000000000000000000" pitchFamily="50" charset="0"/>
                      </a:endParaRPr>
                    </a:p>
                  </a:txBody>
                  <a:tcPr marL="182880" marR="182880" marT="0" marB="0" anchor="ctr"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200" b="0" kern="1200">
                          <a:solidFill>
                            <a:schemeClr val="tx1"/>
                          </a:solidFill>
                          <a:latin typeface="Pluto Sans Regular" panose="02000000000000000000" pitchFamily="50" charset="0"/>
                          <a:ea typeface="+mn-ea"/>
                          <a:cs typeface="+mn-cs"/>
                        </a:rPr>
                        <a:t>15.4%</a:t>
                      </a:r>
                      <a:endParaRPr lang="en-US" sz="3200" b="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182880" marR="182880" marT="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83478680"/>
                  </a:ext>
                </a:extLst>
              </a:tr>
            </a:tbl>
          </a:graphicData>
        </a:graphic>
      </p:graphicFrame>
      <p:sp>
        <p:nvSpPr>
          <p:cNvPr id="29" name="TextBox 28">
            <a:extLst>
              <a:ext uri="{FF2B5EF4-FFF2-40B4-BE49-F238E27FC236}">
                <a16:creationId xmlns:a16="http://schemas.microsoft.com/office/drawing/2014/main" id="{839C2C0E-26CC-49DA-890E-D2AB4BEA71EE}"/>
              </a:ext>
            </a:extLst>
          </p:cNvPr>
          <p:cNvSpPr txBox="1"/>
          <p:nvPr/>
        </p:nvSpPr>
        <p:spPr>
          <a:xfrm>
            <a:off x="20714039" y="412704"/>
            <a:ext cx="2838661" cy="523220"/>
          </a:xfrm>
          <a:prstGeom prst="rect">
            <a:avLst/>
          </a:prstGeom>
        </p:spPr>
        <p:txBody>
          <a:bodyPr wrap="none" rIns="0" rtlCol="0">
            <a:spAutoFit/>
          </a:bodyPr>
          <a:lstStyle/>
          <a:p>
            <a:pPr algn="r"/>
            <a:r>
              <a:rPr lang="en-US" sz="2800" b="1">
                <a:latin typeface="Pluto Sans Regular" panose="02000000000000000000" pitchFamily="50" charset="0"/>
              </a:rPr>
              <a:t>12 weeks post</a:t>
            </a:r>
            <a:endParaRPr lang="en-US" sz="2800" b="1" dirty="0">
              <a:latin typeface="Pluto Sans Regular" panose="02000000000000000000" pitchFamily="50" charset="0"/>
            </a:endParaRPr>
          </a:p>
        </p:txBody>
      </p:sp>
      <p:sp>
        <p:nvSpPr>
          <p:cNvPr id="24" name="Right Brace 23">
            <a:extLst>
              <a:ext uri="{FF2B5EF4-FFF2-40B4-BE49-F238E27FC236}">
                <a16:creationId xmlns:a16="http://schemas.microsoft.com/office/drawing/2014/main" id="{BAFEA72E-D878-4C7C-9428-0CBB0A06F5EF}"/>
              </a:ext>
            </a:extLst>
          </p:cNvPr>
          <p:cNvSpPr/>
          <p:nvPr/>
        </p:nvSpPr>
        <p:spPr>
          <a:xfrm rot="5400000">
            <a:off x="15489666" y="7454857"/>
            <a:ext cx="535746" cy="6097804"/>
          </a:xfrm>
          <a:prstGeom prst="rightBrace">
            <a:avLst>
              <a:gd name="adj1" fmla="val 1529167"/>
              <a:gd name="adj2" fmla="val 50000"/>
            </a:avLst>
          </a:prstGeom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sz="7200"/>
          </a:p>
        </p:txBody>
      </p:sp>
      <p:sp>
        <p:nvSpPr>
          <p:cNvPr id="34" name="Slide Number Placeholder 4">
            <a:extLst>
              <a:ext uri="{FF2B5EF4-FFF2-40B4-BE49-F238E27FC236}">
                <a16:creationId xmlns:a16="http://schemas.microsoft.com/office/drawing/2014/main" id="{C78F5EEF-0F9A-4256-B615-1EC35B1BBFD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07190" y="13213976"/>
            <a:ext cx="5487114" cy="502024"/>
          </a:xfrm>
        </p:spPr>
        <p:txBody>
          <a:bodyPr/>
          <a:lstStyle/>
          <a:p>
            <a:fld id="{62066CCF-ECDE-414D-914A-C0A708193A68}" type="slidenum">
              <a:rPr lang="en-US" smtClean="0"/>
              <a:pPr/>
              <a:t>1</a:t>
            </a:fld>
            <a:endParaRPr lang="en-US" dirty="0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67F27313-56C8-465E-9BB3-E4EE815F726F}"/>
              </a:ext>
            </a:extLst>
          </p:cNvPr>
          <p:cNvSpPr txBox="1"/>
          <p:nvPr/>
        </p:nvSpPr>
        <p:spPr>
          <a:xfrm>
            <a:off x="1290569" y="4863266"/>
            <a:ext cx="18473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2800" dirty="0">
              <a:latin typeface="Pluto Sans Regular" panose="02000000000000000000" pitchFamily="50" charset="0"/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B3952124-F887-4637-B27A-9B9557D3F8B1}"/>
              </a:ext>
            </a:extLst>
          </p:cNvPr>
          <p:cNvSpPr txBox="1"/>
          <p:nvPr/>
        </p:nvSpPr>
        <p:spPr>
          <a:xfrm>
            <a:off x="1290569" y="5519120"/>
            <a:ext cx="246093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>
                <a:latin typeface="Pluto Sans Regular" panose="02000000000000000000" pitchFamily="50" charset="0"/>
              </a:rPr>
              <a:t>TIS Program</a:t>
            </a:r>
            <a:endParaRPr lang="en-US" sz="2800" dirty="0">
              <a:latin typeface="Pluto Sans Regular" panose="02000000000000000000" pitchFamily="50" charset="0"/>
            </a:endParaRPr>
          </a:p>
        </p:txBody>
      </p:sp>
      <p:graphicFrame>
        <p:nvGraphicFramePr>
          <p:cNvPr id="28" name="Table 27">
            <a:extLst>
              <a:ext uri="{FF2B5EF4-FFF2-40B4-BE49-F238E27FC236}">
                <a16:creationId xmlns:a16="http://schemas.microsoft.com/office/drawing/2014/main" id="{8AF2B0D1-E9C7-4A5C-AC87-93FC13BE6FB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92163689"/>
              </p:ext>
            </p:extLst>
          </p:nvPr>
        </p:nvGraphicFramePr>
        <p:xfrm>
          <a:off x="18081358" y="3524059"/>
          <a:ext cx="4908637" cy="195072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418900">
                  <a:extLst>
                    <a:ext uri="{9D8B030D-6E8A-4147-A177-3AD203B41FA5}">
                      <a16:colId xmlns:a16="http://schemas.microsoft.com/office/drawing/2014/main" val="63823415"/>
                    </a:ext>
                  </a:extLst>
                </a:gridCol>
                <a:gridCol w="2489737">
                  <a:extLst>
                    <a:ext uri="{9D8B030D-6E8A-4147-A177-3AD203B41FA5}">
                      <a16:colId xmlns:a16="http://schemas.microsoft.com/office/drawing/2014/main" val="523179873"/>
                    </a:ext>
                  </a:extLst>
                </a:gridCol>
              </a:tblGrid>
              <a:tr h="0">
                <a:tc gridSpan="2">
                  <a:txBody>
                    <a:bodyPr/>
                    <a:lstStyle/>
                    <a:p>
                      <a:r>
                        <a:rPr lang="en-US" sz="2800" kern="1200" dirty="0">
                          <a:solidFill>
                            <a:schemeClr val="dk1"/>
                          </a:solidFill>
                          <a:latin typeface="Pluto Sans Regular" panose="02000000000000000000" pitchFamily="50" charset="0"/>
                          <a:ea typeface="+mn-ea"/>
                          <a:cs typeface="+mn-cs"/>
                        </a:rPr>
                        <a:t>Lift vs. previous 4 weeks</a:t>
                      </a:r>
                    </a:p>
                  </a:txBody>
                  <a:tcPr marL="182880" marR="182880" marT="91440" marB="9144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96941154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2800" b="1" kern="1200" dirty="0" err="1">
                          <a:solidFill>
                            <a:schemeClr val="accent1"/>
                          </a:solidFill>
                          <a:latin typeface="Pluto Sans Regular" panose="02000000000000000000" pitchFamily="50" charset="0"/>
                          <a:ea typeface="+mn-ea"/>
                          <a:cs typeface="+mn-cs"/>
                        </a:rPr>
                        <a:t>Freeosk</a:t>
                      </a:r>
                      <a:endParaRPr lang="en-US" sz="2800" b="1" kern="1200" dirty="0">
                        <a:solidFill>
                          <a:schemeClr val="accent1"/>
                        </a:solidFill>
                        <a:latin typeface="Pluto Sans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182880" marR="182880" marT="91440" marB="9144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200" kern="1200">
                          <a:solidFill>
                            <a:schemeClr val="accent1"/>
                          </a:solidFill>
                          <a:latin typeface="Pluto Sans Regular" panose="02000000000000000000" pitchFamily="50" charset="0"/>
                          <a:ea typeface="+mn-ea"/>
                          <a:cs typeface="PT Sans Caption"/>
                        </a:rPr>
                        <a:t>-8%</a:t>
                      </a:r>
                      <a:endParaRPr lang="en-US" sz="3200" kern="1200" dirty="0">
                        <a:solidFill>
                          <a:schemeClr val="accent1"/>
                        </a:solidFill>
                        <a:latin typeface="Pluto Sans Regular" panose="02000000000000000000" pitchFamily="50" charset="0"/>
                        <a:ea typeface="+mn-ea"/>
                        <a:cs typeface="PT Sans Caption"/>
                      </a:endParaRPr>
                    </a:p>
                  </a:txBody>
                  <a:tcPr marL="182880" marR="365760" marT="91440" marB="9144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25342964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2800">
                          <a:latin typeface="Pluto Sans Regular" panose="02000000000000000000" pitchFamily="50" charset="0"/>
                        </a:rPr>
                        <a:t>Control</a:t>
                      </a:r>
                      <a:endParaRPr lang="en-US" sz="2800" dirty="0">
                        <a:latin typeface="Pluto Sans Regular" panose="02000000000000000000" pitchFamily="50" charset="0"/>
                      </a:endParaRPr>
                    </a:p>
                  </a:txBody>
                  <a:tcPr marL="182880" marR="182880" marT="91440" marB="9144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200" kern="1200">
                          <a:solidFill>
                            <a:schemeClr val="dk1"/>
                          </a:solidFill>
                          <a:latin typeface="Pluto Sans Regular" panose="02000000000000000000" pitchFamily="50" charset="0"/>
                          <a:ea typeface="+mn-ea"/>
                          <a:cs typeface="+mn-cs"/>
                        </a:rPr>
                        <a:t>7%</a:t>
                      </a:r>
                      <a:endParaRPr lang="en-US" sz="3200" kern="1200" dirty="0">
                        <a:solidFill>
                          <a:schemeClr val="dk1"/>
                        </a:solidFill>
                        <a:latin typeface="Pluto Sans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182880" marR="365760" marT="91440" marB="9144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6862687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1593488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Freeosk 1">
      <a:dk1>
        <a:srgbClr val="636669"/>
      </a:dk1>
      <a:lt1>
        <a:srgbClr val="FFFFFF"/>
      </a:lt1>
      <a:dk2>
        <a:srgbClr val="000000"/>
      </a:dk2>
      <a:lt2>
        <a:srgbClr val="EFEFEF"/>
      </a:lt2>
      <a:accent1>
        <a:srgbClr val="4DC3DF"/>
      </a:accent1>
      <a:accent2>
        <a:srgbClr val="626669"/>
      </a:accent2>
      <a:accent3>
        <a:srgbClr val="FF661F"/>
      </a:accent3>
      <a:accent4>
        <a:srgbClr val="78BE20"/>
      </a:accent4>
      <a:accent5>
        <a:srgbClr val="96999B"/>
      </a:accent5>
      <a:accent6>
        <a:srgbClr val="B1B2B2"/>
      </a:accent6>
      <a:hlink>
        <a:srgbClr val="4DC3DF"/>
      </a:hlink>
      <a:folHlink>
        <a:srgbClr val="5CA3BC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reeosk Analytics 2019 16x9 Template BETA1.0" id="{E3960610-F346-504D-BB4F-2443785C370E}" vid="{7D95555C-7865-4E42-8B65-815FAEDD672E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Freeosk Analytics 2019 16x9 Template</Template>
  <TotalTime>1193</TotalTime>
  <Words>137</Words>
  <Application>Microsoft Office PowerPoint</Application>
  <PresentationFormat>Custom</PresentationFormat>
  <Paragraphs>41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9" baseType="lpstr">
      <vt:lpstr>Arial</vt:lpstr>
      <vt:lpstr>Calibri</vt:lpstr>
      <vt:lpstr>Pluto Sans</vt:lpstr>
      <vt:lpstr>Pluto Sans Bold</vt:lpstr>
      <vt:lpstr>Pluto Sans Cond Regular</vt:lpstr>
      <vt:lpstr>Pluto Sans Regular</vt:lpstr>
      <vt:lpstr>PT Sans Caption</vt:lpstr>
      <vt:lpstr>Office Theme</vt:lpstr>
      <vt:lpstr>Fruit Snacks Core case study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Analytics</dc:creator>
  <cp:lastModifiedBy>Laine Klopfenstein</cp:lastModifiedBy>
  <cp:revision>335</cp:revision>
  <dcterms:created xsi:type="dcterms:W3CDTF">2018-12-12T20:08:26Z</dcterms:created>
  <dcterms:modified xsi:type="dcterms:W3CDTF">2019-02-05T17:26:51Z</dcterms:modified>
</cp:coreProperties>
</file>